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松田研究室の柴尾です。「既存計測系と大規模言語モデルを繋ぐゲートウェイの構築、LabVIEWによる複数AI対話の実現」について発表します。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こちらの流れで発表します。中盤で実際に動いている様子を映像でお見せします。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現在のリハビリテーション評価は、療法士が目視で採点する方式が主流です。高齢化により対象者は増え続けており、評価の負担も増しています。</a:t>
            </a:r>
          </a:p>
          <a:p>
            <a:r>
              <a:t>一方、指の曲がり具合や運動回数、脈波といったセンサーデータは取得できるようになってきました。ただ、それだけでは足りません。「動くようになった実感があるか」「続けたいと思えるか」といった本人の主観は、センサーでは測れないからです。</a:t>
            </a:r>
          </a:p>
          <a:p>
            <a:r>
              <a:t>この主観を自然な会話から引き出し、客観データと組み合わせて評価したい、というのが本研究の出発点です。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問題点を2つに整理しました。</a:t>
            </a:r>
          </a:p>
          <a:p>
            <a:r>
              <a:t>1つ目は、主観を引き出す仕組みがないことです。質問紙は形式が固定されているため、その場の話に応じて掘り下げることができません。かといって人が聞き取ると、聞き手の関心によって内容が偏ってしまいます。</a:t>
            </a:r>
          </a:p>
          <a:p>
            <a:r>
              <a:t>2つ目は開発面の問題です。この研究室では計測系の画面をLabVIEWで作っていますが、評価内容が変われば画面も変わります。別に専用のWeb画面を作ってしまうと、変更のたびに二重の修正が必要になります。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研究目的です。本研究で作るのは、LabVIEWから大規模言語モデルを利用できる接続基盤です。</a:t>
            </a:r>
          </a:p>
          <a:p>
            <a:r>
              <a:t>そのうえで最終的に目指すのは、主観情報を多面的かつ効率的に収集できるLLMの対話構造を明らかにすることです。AIを何体並べるのが良いかは自明ではないので、構成を比較して見極める必要があると考えています。</a:t>
            </a:r>
          </a:p>
          <a:p>
            <a:r>
              <a:t>基盤側の具体目標は3点です。1点目、LabVIEWをクライアントにして、画面の変更をLabVIEW側だけで完結できるようにすること。2点目、複数のAIの会話をサーバー側で制御し、対話構造を差し替えて試せるようにすること。3点目、研究室の他のPCでも動く構成にす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LabVIEWをクライアント、サーバーをLLMとの仲介役とする構成にしました。</a:t>
            </a:r>
          </a:p>
          <a:p>
            <a:r>
              <a:t>LabVIEWからは文字列をJSON形式にしてHTTPで送るだけです。サーバーがAPIキーを付けてLLMに問い合わせ、返ってきた回答を整形してLabVIEWに返します。</a:t>
            </a:r>
          </a:p>
          <a:p>
            <a:r>
              <a:t>ポイントは、APIキーをLabVIEW側に一切持たせていないことです。またサーバーはDocker上で動くようにしてあり、どのPCでも同じ環境で起動できます。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設計で一番気を使ったのは、LabVIEW側の実装をいかに増やさないかです。3つの工夫をしました。</a:t>
            </a:r>
          </a:p>
          <a:p>
            <a:r>
              <a:t>1つ目、JSONを入れ子にせず平坦な形にしました。LabVIEWはクラスタのラベル名がそのままJSONのキーになるので、平坦なほど扱いが簡単になります。</a:t>
            </a:r>
          </a:p>
          <a:p>
            <a:r>
              <a:t>2つ目、エラーのときもHTTPステータスは200を返し、成否は本文のokというフラグで表すようにしました。これでLabVIEW側はステータスコードの分岐をせず、Case Structure 1つで済みます。</a:t>
            </a:r>
          </a:p>
          <a:p>
            <a:r>
              <a:t>3つ目、複数AIの会話は、発言の配列だけでなく、それらを1本につないだ文字列も同時に返すようにしました。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マルチエージェント化は3段階で進めています。</a:t>
            </a:r>
          </a:p>
          <a:p>
            <a:r>
              <a:t>段階Aは、LabVIEW側が1体ずつAIを呼ぶ方式です。今の仕組みでも可能ですが、会話が増えるほどLabVIEW側が複雑になります。</a:t>
            </a:r>
          </a:p>
          <a:p>
            <a:r>
              <a:t>そこで段階Bとして、発言順の制御をサーバー側に持たせました。LabVIEWは1回リクエストを送るだけで、複数のAIの発言がまとめて返ってきます。ここまでが実装完了しています。</a:t>
            </a:r>
          </a:p>
          <a:p>
            <a:r>
              <a:t>段階Cが今後の課題で、司会役のAIが文脈に応じて次の発話者を決める形にします。今回の実装では、この発言順を決める部分だけを差し替えれば済む構造にしてあります。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こちらが今回の中心です。LabVIEWから1回送信するだけで、3体のAIが順番に発言します。</a:t>
            </a:r>
          </a:p>
          <a:p>
            <a:r>
              <a:t>（再生）入力するのは、患者さんの感想を想定した1文だけです。実行すると、サーバー側でAIが順番に呼ばれていきます。ログを見ると、3回のやり取りが順に行われているのが分かります。</a:t>
            </a:r>
          </a:p>
          <a:p>
            <a:r>
              <a:t>結果がこちらです。1体目は「特に効果を感じたトレーニングはありましたか」と問い返し、2体目は継続とフィードバックという条件を補い、3体目は具体的な目標設定や日常生活での挑戦へと話を広げています。3体に同じ質問を投げて答えを並べたのではなく、前の発言を読んだうえで発言しているので、内容が重複していません。</a:t>
            </a:r>
          </a:p>
          <a:p>
            <a:r>
              <a:t>なお、この3体構成は比較条件の一つです。後のスライドで比較計画をお話しします。</a:t>
            </a:r>
          </a:p>
          <a:p>
            <a:r>
              <a:t>これは各AIに直前までの発言を文脈として渡し、既出の意見を繰り返さないよう指示しているためです。将来ここに専門領域ごとの役割を割り当てることで、多角的な評価につなげられると考えています。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定量評価として、応答時間を計測しました。</a:t>
            </a:r>
          </a:p>
          <a:p>
            <a:r>
              <a:t>AIが3体の場合で約6秒です。先ほどの動画のログでは、1体目が2.0秒、2体目が2.9秒、3体目が1.1秒で、合計6.0秒でした。内訳を見ると、自作サーバー側の処理は7ミリ秒で、残りはすべてLLM側の応答待ちでした。つまり遅延の原因はほぼ外部APIであり、自作部分のオーバーヘッドは無視できる水準です。</a:t>
            </a:r>
          </a:p>
          <a:p>
            <a:r>
              <a:t>応答時間は発言数にほぼ比例して伸びます。ただし3体が最適という意味ではなく、この数字は次にお話しする構成の比較で材料として使います。</a:t>
            </a:r>
          </a:p>
          <a:p>
            <a:r>
              <a:t>なお、LabVIEWの通信タイムアウトは既定で10秒のため、3体だと危険な水準です。これは実装側で延長して対応しています。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ここまでお見せしたのは3体構成ですが、3体が最適だと考えているわけではありません。現在の構成は比較条件の一つです。</a:t>
            </a:r>
          </a:p>
          <a:p>
            <a:r>
              <a:t>最終的には、この表のA〜Dを比較します。条件Aは単体AI、条件Bは1体に複数のペルソナ、条件Cは独立した複数のLLM、条件Dは司会AIによる動的な制御です。</a:t>
            </a:r>
          </a:p>
          <a:p>
            <a:r>
              <a:t>今回の動作映像は条件Bにあたります。同一のモデルに3つの異なるペルソナを与えて固定順で回しているためです。エージェントごとにモデルを指定できる構造にしてあるので、条件Cへはコードを変えずに移行できます。</a:t>
            </a:r>
          </a:p>
          <a:p>
            <a:r>
              <a:t>比較で見たいのは、重複のない多面的な意見が得られるか、応答時間とのつり合い、そして患者の負担にならない対話の長さです。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今後の方針です。</a:t>
            </a:r>
          </a:p>
          <a:p>
            <a:r>
              <a:t>本研究で取り組む範囲は、図の「次段階」までです。まず段階Cとして司会役のAIを導入し、文脈に応じて次に話すAIを決めることで、発言の偏りを制御したいと考えています。</a:t>
            </a:r>
          </a:p>
          <a:p>
            <a:r>
              <a:t>ただし、どのような視点のAIを揃えるべきか、どう質問を投げれば主観を引き出せるかは、臨床的な知見が必要な部分です。ここは相談しながら進めたいと考えています。</a:t>
            </a:r>
          </a:p>
          <a:p>
            <a:r>
              <a:t>中期以降は本研究の完了範囲の外で、発展の方向性としてお示ししているものです。その中期の位置づけを、次のスライドで説明します。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最後に、本研究の位置づけを整理します。</a:t>
            </a:r>
          </a:p>
          <a:p>
            <a:r>
              <a:t>この研究室の既存研究は、リハビリ用デバイスにしてもハードウェア制御にしても、いずれもLabVIEWが窓口になっています。</a:t>
            </a:r>
          </a:p>
          <a:p>
            <a:r>
              <a:t>本研究が作ったのは、そのLabVIEWから1回投げるだけでLLMを使える接続基盤です。つまり、既存の計測系を作り変えずにLLMを利用できるようになります。</a:t>
            </a:r>
          </a:p>
          <a:p>
            <a:r>
              <a:t>この意味で本研究の価値は、LLMを使ったこと自体ではなく、研究室の様々な研究にLLMを挿せる土台を作ったことにあると考えています。</a:t>
            </a:r>
          </a:p>
          <a:p>
            <a:r>
              <a:t>なお、センサーデータとの統合そのものは中期の目標であり、本研究の完了範囲は接続基盤の構築までです。</a:t>
            </a:r>
          </a:p>
          <a:p>
            <a:r>
              <a:t>以上で発表を終わります。ありがとうございました。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9319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60120"/>
            <a:ext cx="10881360" cy="2651760"/>
          </a:xfrm>
          <a:prstGeom prst="rect">
            <a:avLst/>
          </a:prstGeom>
          <a:noFill/>
        </p:spPr>
        <p:txBody>
          <a:bodyPr wrap="square" anchor="t">
            <a:spAutoFit/>
          </a:bodyPr>
          <a:lstStyle/>
          <a:p>
            <a:pPr algn="ctr">
              <a:spcAft>
                <a:spcPts val="1000"/>
              </a:spcAft>
            </a:pPr>
            <a:r>
              <a:rPr sz="3800" b="1">
                <a:solidFill>
                  <a:srgbClr val="FFFFFF"/>
                </a:solidFill>
                <a:latin typeface="Yu Gothic"/>
                <a:ea typeface="Yu Gothic"/>
                <a:cs typeface="Yu Gothic"/>
              </a:rPr>
              <a:t>既存計測系と大規模言語モデルを繋ぐ</a:t>
            </a:r>
          </a:p>
          <a:p>
            <a:pPr algn="ctr">
              <a:spcAft>
                <a:spcPts val="2200"/>
              </a:spcAft>
            </a:pPr>
            <a:r>
              <a:rPr sz="3800" b="1">
                <a:solidFill>
                  <a:srgbClr val="FFFFFF"/>
                </a:solidFill>
                <a:latin typeface="Yu Gothic"/>
                <a:ea typeface="Yu Gothic"/>
                <a:cs typeface="Yu Gothic"/>
              </a:rPr>
              <a:t>ゲートウェイの構築</a:t>
            </a:r>
          </a:p>
          <a:p>
            <a:pPr algn="ctr">
              <a:spcAft>
                <a:spcPts val="600"/>
              </a:spcAft>
            </a:pPr>
            <a:r>
              <a:rPr sz="2500" b="0">
                <a:solidFill>
                  <a:srgbClr val="C8DAE6"/>
                </a:solidFill>
                <a:latin typeface="Yu Gothic"/>
                <a:ea typeface="Yu Gothic"/>
                <a:cs typeface="Yu Gothic"/>
              </a:rPr>
              <a:t>― LabVIEWによる複数AI対話の実現 ―</a:t>
            </a:r>
          </a:p>
        </p:txBody>
      </p:sp>
      <p:sp>
        <p:nvSpPr>
          <p:cNvPr id="4" name="TextBox 3"/>
          <p:cNvSpPr txBox="1"/>
          <p:nvPr/>
        </p:nvSpPr>
        <p:spPr>
          <a:xfrm>
            <a:off x="914400" y="4389120"/>
            <a:ext cx="10332720" cy="1828800"/>
          </a:xfrm>
          <a:prstGeom prst="rect">
            <a:avLst/>
          </a:prstGeom>
          <a:noFill/>
        </p:spPr>
        <p:txBody>
          <a:bodyPr wrap="square" anchor="t">
            <a:spAutoFit/>
          </a:bodyPr>
          <a:lstStyle/>
          <a:p>
            <a:pPr algn="ctr">
              <a:spcAft>
                <a:spcPts val="800"/>
              </a:spcAft>
            </a:pPr>
            <a:r>
              <a:rPr sz="2200" b="0">
                <a:solidFill>
                  <a:srgbClr val="1F3A5F"/>
                </a:solidFill>
                <a:latin typeface="Yu Gothic"/>
                <a:ea typeface="Yu Gothic"/>
                <a:cs typeface="Yu Gothic"/>
              </a:rPr>
              <a:t>情報システム工学科　松田研究室</a:t>
            </a:r>
          </a:p>
          <a:p>
            <a:pPr algn="ctr">
              <a:spcAft>
                <a:spcPts val="1400"/>
              </a:spcAft>
            </a:pPr>
            <a:r>
              <a:rPr sz="2600" b="1">
                <a:solidFill>
                  <a:srgbClr val="1F3A5F"/>
                </a:solidFill>
                <a:latin typeface="Yu Gothic"/>
                <a:ea typeface="Yu Gothic"/>
                <a:cs typeface="Yu Gothic"/>
              </a:rPr>
              <a:t>2022531028　柴尾 海翔</a:t>
            </a:r>
          </a:p>
          <a:p>
            <a:pPr algn="ctr">
              <a:spcAft>
                <a:spcPts val="600"/>
              </a:spcAft>
            </a:pPr>
            <a:r>
              <a:rPr sz="1800" b="0">
                <a:solidFill>
                  <a:srgbClr val="595A5C"/>
                </a:solidFill>
                <a:latin typeface="Yu Gothic"/>
                <a:ea typeface="Yu Gothic"/>
                <a:cs typeface="Yu Gothic"/>
              </a:rPr>
              <a:t>2026年 9月 28日　　卒業研究 中間発表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a:lstStyle/>
          <a:p>
            <a:pPr algn="l">
              <a:spcAft>
                <a:spcPts val="600"/>
              </a:spcAft>
            </a:pPr>
            <a:r>
              <a:rPr sz="3000" b="1">
                <a:solidFill>
                  <a:srgbClr val="FFFFFF"/>
                </a:solidFill>
                <a:latin typeface="Yu Gothic"/>
                <a:ea typeface="Yu Gothic"/>
                <a:cs typeface="Yu Gothic"/>
              </a:rPr>
              <a:t>目次</a:t>
            </a:r>
          </a:p>
        </p:txBody>
      </p:sp>
      <p:sp>
        <p:nvSpPr>
          <p:cNvPr id="3" name="TextBox 2"/>
          <p:cNvSpPr txBox="1"/>
          <p:nvPr/>
        </p:nvSpPr>
        <p:spPr>
          <a:xfrm>
            <a:off x="11277295" y="6355080"/>
            <a:ext cx="640080" cy="365760"/>
          </a:xfrm>
          <a:prstGeom prst="rect">
            <a:avLst/>
          </a:prstGeom>
          <a:noFill/>
        </p:spPr>
        <p:txBody>
          <a:bodyPr wrap="square" anchor="t">
            <a:spAutoFit/>
          </a:bodyPr>
          <a:lstStyle/>
          <a:p>
            <a:pPr algn="r">
              <a:spcAft>
                <a:spcPts val="600"/>
              </a:spcAft>
            </a:pPr>
            <a:r>
              <a:rPr sz="1400" b="0">
                <a:solidFill>
                  <a:srgbClr val="595A5C"/>
                </a:solidFill>
                <a:latin typeface="Yu Gothic"/>
                <a:ea typeface="Yu Gothic"/>
                <a:cs typeface="Yu Gothic"/>
              </a:rPr>
              <a:t>1</a:t>
            </a:r>
          </a:p>
        </p:txBody>
      </p:sp>
      <p:sp>
        <p:nvSpPr>
          <p:cNvPr id="4" name="TextBox 3"/>
          <p:cNvSpPr txBox="1"/>
          <p:nvPr/>
        </p:nvSpPr>
        <p:spPr>
          <a:xfrm>
            <a:off x="731520" y="1463040"/>
            <a:ext cx="10698480" cy="4937760"/>
          </a:xfrm>
          <a:prstGeom prst="rect">
            <a:avLst/>
          </a:prstGeom>
          <a:noFill/>
        </p:spPr>
        <p:txBody>
          <a:bodyPr wrap="square" anchor="t">
            <a:spAutoFit/>
          </a:bodyPr>
          <a:lstStyle/>
          <a:p>
            <a:pPr algn="l">
              <a:spcAft>
                <a:spcPts val="1600"/>
              </a:spcAft>
            </a:pPr>
            <a:r>
              <a:rPr sz="2500" b="0">
                <a:solidFill>
                  <a:srgbClr val="222222"/>
                </a:solidFill>
                <a:latin typeface="Yu Gothic"/>
                <a:ea typeface="Yu Gothic"/>
                <a:cs typeface="Yu Gothic"/>
              </a:rPr>
              <a:t>1.  研究背景</a:t>
            </a:r>
          </a:p>
          <a:p>
            <a:pPr algn="l">
              <a:spcAft>
                <a:spcPts val="1600"/>
              </a:spcAft>
            </a:pPr>
            <a:r>
              <a:rPr sz="2500" b="0">
                <a:solidFill>
                  <a:srgbClr val="222222"/>
                </a:solidFill>
                <a:latin typeface="Yu Gothic"/>
                <a:ea typeface="Yu Gothic"/>
                <a:cs typeface="Yu Gothic"/>
              </a:rPr>
              <a:t>2.  問題点</a:t>
            </a:r>
          </a:p>
          <a:p>
            <a:pPr algn="l">
              <a:spcAft>
                <a:spcPts val="1600"/>
              </a:spcAft>
            </a:pPr>
            <a:r>
              <a:rPr sz="2500" b="0">
                <a:solidFill>
                  <a:srgbClr val="222222"/>
                </a:solidFill>
                <a:latin typeface="Yu Gothic"/>
                <a:ea typeface="Yu Gothic"/>
                <a:cs typeface="Yu Gothic"/>
              </a:rPr>
              <a:t>3.  研究目的</a:t>
            </a:r>
          </a:p>
          <a:p>
            <a:pPr algn="l">
              <a:spcAft>
                <a:spcPts val="1600"/>
              </a:spcAft>
            </a:pPr>
            <a:r>
              <a:rPr sz="2500" b="0">
                <a:solidFill>
                  <a:srgbClr val="222222"/>
                </a:solidFill>
                <a:latin typeface="Yu Gothic"/>
                <a:ea typeface="Yu Gothic"/>
                <a:cs typeface="Yu Gothic"/>
              </a:rPr>
              <a:t>4.  システム構成</a:t>
            </a:r>
          </a:p>
          <a:p>
            <a:pPr algn="l">
              <a:spcAft>
                <a:spcPts val="1600"/>
              </a:spcAft>
            </a:pPr>
            <a:r>
              <a:rPr sz="2500" b="0">
                <a:solidFill>
                  <a:srgbClr val="222222"/>
                </a:solidFill>
                <a:latin typeface="Yu Gothic"/>
                <a:ea typeface="Yu Gothic"/>
                <a:cs typeface="Yu Gothic"/>
              </a:rPr>
              <a:t>5.  現在までの進捗　― 動作映像 ―</a:t>
            </a:r>
          </a:p>
          <a:p>
            <a:pPr algn="l">
              <a:spcAft>
                <a:spcPts val="1600"/>
              </a:spcAft>
            </a:pPr>
            <a:r>
              <a:rPr sz="2500" b="0">
                <a:solidFill>
                  <a:srgbClr val="222222"/>
                </a:solidFill>
                <a:latin typeface="Yu Gothic"/>
                <a:ea typeface="Yu Gothic"/>
                <a:cs typeface="Yu Gothic"/>
              </a:rPr>
              <a:t>6.  定量評価</a:t>
            </a:r>
          </a:p>
          <a:p>
            <a:pPr algn="l">
              <a:spcAft>
                <a:spcPts val="1600"/>
              </a:spcAft>
            </a:pPr>
            <a:r>
              <a:rPr sz="2500" b="0">
                <a:solidFill>
                  <a:srgbClr val="222222"/>
                </a:solidFill>
                <a:latin typeface="Yu Gothic"/>
                <a:ea typeface="Yu Gothic"/>
                <a:cs typeface="Yu Gothic"/>
              </a:rPr>
              <a:t>7.  検証計画　― 対話構造の比較 ―</a:t>
            </a:r>
          </a:p>
          <a:p>
            <a:pPr algn="l">
              <a:spcAft>
                <a:spcPts val="1600"/>
              </a:spcAft>
            </a:pPr>
            <a:r>
              <a:rPr sz="2500" b="0">
                <a:solidFill>
                  <a:srgbClr val="222222"/>
                </a:solidFill>
                <a:latin typeface="Yu Gothic"/>
                <a:ea typeface="Yu Gothic"/>
                <a:cs typeface="Yu Gothic"/>
              </a:rPr>
              <a:t>8.  今後の方針と本研究の位置づけ</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a:lstStyle/>
          <a:p>
            <a:pPr algn="l">
              <a:spcAft>
                <a:spcPts val="600"/>
              </a:spcAft>
            </a:pPr>
            <a:r>
              <a:rPr sz="3000" b="1">
                <a:solidFill>
                  <a:srgbClr val="FFFFFF"/>
                </a:solidFill>
                <a:latin typeface="Yu Gothic"/>
                <a:ea typeface="Yu Gothic"/>
                <a:cs typeface="Yu Gothic"/>
              </a:rPr>
              <a:t>研究背景</a:t>
            </a:r>
          </a:p>
        </p:txBody>
      </p:sp>
      <p:sp>
        <p:nvSpPr>
          <p:cNvPr id="3" name="TextBox 2"/>
          <p:cNvSpPr txBox="1"/>
          <p:nvPr/>
        </p:nvSpPr>
        <p:spPr>
          <a:xfrm>
            <a:off x="11277295" y="6355080"/>
            <a:ext cx="640080" cy="365760"/>
          </a:xfrm>
          <a:prstGeom prst="rect">
            <a:avLst/>
          </a:prstGeom>
          <a:noFill/>
        </p:spPr>
        <p:txBody>
          <a:bodyPr wrap="square" anchor="t">
            <a:spAutoFit/>
          </a:bodyPr>
          <a:lstStyle/>
          <a:p>
            <a:pPr algn="r">
              <a:spcAft>
                <a:spcPts val="600"/>
              </a:spcAft>
            </a:pPr>
            <a:r>
              <a:rPr sz="1400" b="0">
                <a:solidFill>
                  <a:srgbClr val="595A5C"/>
                </a:solidFill>
                <a:latin typeface="Yu Gothic"/>
                <a:ea typeface="Yu Gothic"/>
                <a:cs typeface="Yu Gothic"/>
              </a:rPr>
              <a:t>2</a:t>
            </a:r>
          </a:p>
        </p:txBody>
      </p:sp>
      <p:sp>
        <p:nvSpPr>
          <p:cNvPr id="4" name="TextBox 3"/>
          <p:cNvSpPr txBox="1"/>
          <p:nvPr/>
        </p:nvSpPr>
        <p:spPr>
          <a:xfrm>
            <a:off x="731520" y="1188720"/>
            <a:ext cx="10698480" cy="2011680"/>
          </a:xfrm>
          <a:prstGeom prst="rect">
            <a:avLst/>
          </a:prstGeom>
          <a:noFill/>
        </p:spPr>
        <p:txBody>
          <a:bodyPr wrap="square" anchor="t">
            <a:spAutoFit/>
          </a:bodyPr>
          <a:lstStyle/>
          <a:p>
            <a:pPr algn="l">
              <a:spcAft>
                <a:spcPts val="1200"/>
              </a:spcAft>
            </a:pPr>
            <a:r>
              <a:rPr sz="2000" b="0">
                <a:solidFill>
                  <a:srgbClr val="222222"/>
                </a:solidFill>
                <a:latin typeface="Yu Gothic"/>
                <a:ea typeface="Yu Gothic"/>
                <a:cs typeface="Yu Gothic"/>
              </a:rPr>
              <a:t>リハビリテーション評価は、療法士が目視で採点する方式が主流</a:t>
            </a:r>
          </a:p>
          <a:p>
            <a:pPr algn="l">
              <a:spcAft>
                <a:spcPts val="1200"/>
              </a:spcAft>
            </a:pPr>
            <a:r>
              <a:rPr sz="2000" b="0">
                <a:solidFill>
                  <a:srgbClr val="222222"/>
                </a:solidFill>
                <a:latin typeface="Yu Gothic"/>
                <a:ea typeface="Yu Gothic"/>
                <a:cs typeface="Yu Gothic"/>
              </a:rPr>
              <a:t>高齢化により対象者は増加し、評価の負担も増している</a:t>
            </a:r>
          </a:p>
          <a:p>
            <a:pPr algn="l">
              <a:spcAft>
                <a:spcPts val="1200"/>
              </a:spcAft>
            </a:pPr>
            <a:r>
              <a:rPr sz="2000" b="0">
                <a:solidFill>
                  <a:srgbClr val="222222"/>
                </a:solidFill>
                <a:latin typeface="Yu Gothic"/>
                <a:ea typeface="Yu Gothic"/>
                <a:cs typeface="Yu Gothic"/>
              </a:rPr>
              <a:t>センサーにより客観データは取得できるようになった</a:t>
            </a:r>
          </a:p>
          <a:p>
            <a:pPr algn="l" lvl="1">
              <a:spcAft>
                <a:spcPts val="1200"/>
              </a:spcAft>
            </a:pPr>
            <a:r>
              <a:rPr sz="1800" b="0">
                <a:solidFill>
                  <a:srgbClr val="222222"/>
                </a:solidFill>
                <a:latin typeface="Yu Gothic"/>
                <a:ea typeface="Yu Gothic"/>
                <a:cs typeface="Yu Gothic"/>
              </a:rPr>
              <a:t>− 指の屈曲角 ・ 運動回数 ・ 脈波 など</a:t>
            </a:r>
          </a:p>
        </p:txBody>
      </p:sp>
      <p:sp>
        <p:nvSpPr>
          <p:cNvPr id="5" name="Rounded Rectangle 4"/>
          <p:cNvSpPr/>
          <p:nvPr/>
        </p:nvSpPr>
        <p:spPr>
          <a:xfrm>
            <a:off x="731520" y="3200400"/>
            <a:ext cx="5029200" cy="137160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2000" b="1">
                <a:solidFill>
                  <a:srgbClr val="0E7C86"/>
                </a:solidFill>
                <a:latin typeface="Yu Gothic"/>
                <a:ea typeface="Yu Gothic"/>
                <a:cs typeface="Yu Gothic"/>
              </a:rPr>
              <a:t>客観データ（測れる）</a:t>
            </a:r>
          </a:p>
          <a:p>
            <a:pPr algn="l">
              <a:spcAft>
                <a:spcPts val="500"/>
              </a:spcAft>
            </a:pPr>
            <a:r>
              <a:rPr sz="1600" b="0">
                <a:solidFill>
                  <a:srgbClr val="222222"/>
                </a:solidFill>
                <a:latin typeface="Yu Gothic"/>
                <a:ea typeface="Yu Gothic"/>
                <a:cs typeface="Yu Gothic"/>
              </a:rPr>
              <a:t>センサーで数値として取得できる</a:t>
            </a:r>
          </a:p>
          <a:p>
            <a:pPr algn="l">
              <a:spcAft>
                <a:spcPts val="500"/>
              </a:spcAft>
            </a:pPr>
            <a:r>
              <a:rPr sz="1600" b="0">
                <a:solidFill>
                  <a:srgbClr val="222222"/>
                </a:solidFill>
                <a:latin typeface="Yu Gothic"/>
                <a:ea typeface="Yu Gothic"/>
                <a:cs typeface="Yu Gothic"/>
              </a:rPr>
              <a:t>屈曲角・運動回数・脈波</a:t>
            </a:r>
          </a:p>
        </p:txBody>
      </p:sp>
      <p:sp>
        <p:nvSpPr>
          <p:cNvPr id="6" name="Rounded Rectangle 5"/>
          <p:cNvSpPr/>
          <p:nvPr/>
        </p:nvSpPr>
        <p:spPr>
          <a:xfrm>
            <a:off x="6400800" y="3200400"/>
            <a:ext cx="5029200" cy="1371600"/>
          </a:xfrm>
          <a:prstGeom prst="roundRect">
            <a:avLst/>
          </a:prstGeom>
          <a:solidFill>
            <a:srgbClr val="EFF3F7"/>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2000" b="1">
                <a:solidFill>
                  <a:srgbClr val="C0392B"/>
                </a:solidFill>
                <a:latin typeface="Yu Gothic"/>
                <a:ea typeface="Yu Gothic"/>
                <a:cs typeface="Yu Gothic"/>
              </a:rPr>
              <a:t>主観（測れていない）</a:t>
            </a:r>
          </a:p>
          <a:p>
            <a:pPr algn="l">
              <a:spcAft>
                <a:spcPts val="500"/>
              </a:spcAft>
            </a:pPr>
            <a:r>
              <a:rPr sz="1600" b="0">
                <a:solidFill>
                  <a:srgbClr val="222222"/>
                </a:solidFill>
                <a:latin typeface="Yu Gothic"/>
                <a:ea typeface="Yu Gothic"/>
                <a:cs typeface="Yu Gothic"/>
              </a:rPr>
              <a:t>「動きやすくなった実感はあるか」</a:t>
            </a:r>
          </a:p>
          <a:p>
            <a:pPr algn="l">
              <a:spcAft>
                <a:spcPts val="500"/>
              </a:spcAft>
            </a:pPr>
            <a:r>
              <a:rPr sz="1600" b="0">
                <a:solidFill>
                  <a:srgbClr val="222222"/>
                </a:solidFill>
                <a:latin typeface="Yu Gothic"/>
                <a:ea typeface="Yu Gothic"/>
                <a:cs typeface="Yu Gothic"/>
              </a:rPr>
              <a:t>「続けたいと思えるか」</a:t>
            </a:r>
          </a:p>
        </p:txBody>
      </p:sp>
      <p:sp>
        <p:nvSpPr>
          <p:cNvPr id="7" name="TextBox 6"/>
          <p:cNvSpPr txBox="1"/>
          <p:nvPr/>
        </p:nvSpPr>
        <p:spPr>
          <a:xfrm>
            <a:off x="731520" y="4937760"/>
            <a:ext cx="10698480" cy="914400"/>
          </a:xfrm>
          <a:prstGeom prst="rect">
            <a:avLst/>
          </a:prstGeom>
          <a:noFill/>
        </p:spPr>
        <p:txBody>
          <a:bodyPr wrap="square" anchor="t">
            <a:spAutoFit/>
          </a:bodyPr>
          <a:lstStyle/>
          <a:p>
            <a:pPr algn="ctr">
              <a:spcAft>
                <a:spcPts val="600"/>
              </a:spcAft>
            </a:pPr>
            <a:r>
              <a:rPr sz="2400" b="1">
                <a:solidFill>
                  <a:srgbClr val="1F3A5F"/>
                </a:solidFill>
                <a:latin typeface="Yu Gothic"/>
                <a:ea typeface="Yu Gothic"/>
                <a:cs typeface="Yu Gothic"/>
              </a:rPr>
              <a:t>両方が揃って、はじめて評価になる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a:lstStyle/>
          <a:p>
            <a:pPr algn="l">
              <a:spcAft>
                <a:spcPts val="600"/>
              </a:spcAft>
            </a:pPr>
            <a:r>
              <a:rPr sz="3000" b="1">
                <a:solidFill>
                  <a:srgbClr val="FFFFFF"/>
                </a:solidFill>
                <a:latin typeface="Yu Gothic"/>
                <a:ea typeface="Yu Gothic"/>
                <a:cs typeface="Yu Gothic"/>
              </a:rPr>
              <a:t>問題点</a:t>
            </a:r>
          </a:p>
        </p:txBody>
      </p:sp>
      <p:sp>
        <p:nvSpPr>
          <p:cNvPr id="3" name="TextBox 2"/>
          <p:cNvSpPr txBox="1"/>
          <p:nvPr/>
        </p:nvSpPr>
        <p:spPr>
          <a:xfrm>
            <a:off x="11277295" y="6355080"/>
            <a:ext cx="640080" cy="365760"/>
          </a:xfrm>
          <a:prstGeom prst="rect">
            <a:avLst/>
          </a:prstGeom>
          <a:noFill/>
        </p:spPr>
        <p:txBody>
          <a:bodyPr wrap="square" anchor="t">
            <a:spAutoFit/>
          </a:bodyPr>
          <a:lstStyle/>
          <a:p>
            <a:pPr algn="r">
              <a:spcAft>
                <a:spcPts val="600"/>
              </a:spcAft>
            </a:pPr>
            <a:r>
              <a:rPr sz="1400" b="0">
                <a:solidFill>
                  <a:srgbClr val="595A5C"/>
                </a:solidFill>
                <a:latin typeface="Yu Gothic"/>
                <a:ea typeface="Yu Gothic"/>
                <a:cs typeface="Yu Gothic"/>
              </a:rPr>
              <a:t>3</a:t>
            </a:r>
          </a:p>
        </p:txBody>
      </p:sp>
      <p:sp>
        <p:nvSpPr>
          <p:cNvPr id="4" name="Rounded Rectangle 3"/>
          <p:cNvSpPr/>
          <p:nvPr/>
        </p:nvSpPr>
        <p:spPr>
          <a:xfrm>
            <a:off x="640080" y="1234440"/>
            <a:ext cx="5394960" cy="2286000"/>
          </a:xfrm>
          <a:prstGeom prst="roundRect">
            <a:avLst/>
          </a:prstGeom>
          <a:solidFill>
            <a:srgbClr val="EFF3F7"/>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2000" b="1">
                <a:solidFill>
                  <a:srgbClr val="C0392B"/>
                </a:solidFill>
                <a:latin typeface="Yu Gothic"/>
                <a:ea typeface="Yu Gothic"/>
                <a:cs typeface="Yu Gothic"/>
              </a:rPr>
              <a:t>問題点 ①　主観を引き出す仕組みがない</a:t>
            </a:r>
          </a:p>
          <a:p>
            <a:pPr algn="l">
              <a:spcAft>
                <a:spcPts val="500"/>
              </a:spcAft>
            </a:pPr>
            <a:r>
              <a:rPr sz="1600" b="0">
                <a:solidFill>
                  <a:srgbClr val="222222"/>
                </a:solidFill>
                <a:latin typeface="Yu Gothic"/>
                <a:ea typeface="Yu Gothic"/>
                <a:cs typeface="Yu Gothic"/>
              </a:rPr>
              <a:t>・質問紙は形式が固定されており、</a:t>
            </a:r>
          </a:p>
          <a:p>
            <a:pPr algn="l">
              <a:spcAft>
                <a:spcPts val="500"/>
              </a:spcAft>
            </a:pPr>
            <a:r>
              <a:rPr sz="1600" b="0">
                <a:solidFill>
                  <a:srgbClr val="222222"/>
                </a:solidFill>
                <a:latin typeface="Yu Gothic"/>
                <a:ea typeface="Yu Gothic"/>
                <a:cs typeface="Yu Gothic"/>
              </a:rPr>
              <a:t>　その場の話に応じた掘り下げができない</a:t>
            </a:r>
          </a:p>
          <a:p>
            <a:pPr algn="l">
              <a:spcAft>
                <a:spcPts val="500"/>
              </a:spcAft>
            </a:pPr>
            <a:r>
              <a:rPr sz="1600" b="0">
                <a:solidFill>
                  <a:srgbClr val="222222"/>
                </a:solidFill>
                <a:latin typeface="Yu Gothic"/>
                <a:ea typeface="Yu Gothic"/>
                <a:cs typeface="Yu Gothic"/>
              </a:rPr>
              <a:t>・人が聞き取ると、聞き手の関心によって</a:t>
            </a:r>
          </a:p>
          <a:p>
            <a:pPr algn="l">
              <a:spcAft>
                <a:spcPts val="500"/>
              </a:spcAft>
            </a:pPr>
            <a:r>
              <a:rPr sz="1600" b="0">
                <a:solidFill>
                  <a:srgbClr val="222222"/>
                </a:solidFill>
                <a:latin typeface="Yu Gothic"/>
                <a:ea typeface="Yu Gothic"/>
                <a:cs typeface="Yu Gothic"/>
              </a:rPr>
              <a:t>　内容が偏ってしまう</a:t>
            </a:r>
          </a:p>
        </p:txBody>
      </p:sp>
      <p:sp>
        <p:nvSpPr>
          <p:cNvPr id="5" name="Rounded Rectangle 4"/>
          <p:cNvSpPr/>
          <p:nvPr/>
        </p:nvSpPr>
        <p:spPr>
          <a:xfrm>
            <a:off x="6309360" y="1234440"/>
            <a:ext cx="5212080" cy="2286000"/>
          </a:xfrm>
          <a:prstGeom prst="roundRect">
            <a:avLst/>
          </a:prstGeom>
          <a:solidFill>
            <a:srgbClr val="EFF3F7"/>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2000" b="1">
                <a:solidFill>
                  <a:srgbClr val="C0392B"/>
                </a:solidFill>
                <a:latin typeface="Yu Gothic"/>
                <a:ea typeface="Yu Gothic"/>
                <a:cs typeface="Yu Gothic"/>
              </a:rPr>
              <a:t>問題点 ②　画面変更のたびに作り直し</a:t>
            </a:r>
          </a:p>
          <a:p>
            <a:pPr algn="l">
              <a:spcAft>
                <a:spcPts val="500"/>
              </a:spcAft>
            </a:pPr>
            <a:r>
              <a:rPr sz="1600" b="0">
                <a:solidFill>
                  <a:srgbClr val="222222"/>
                </a:solidFill>
                <a:latin typeface="Yu Gothic"/>
                <a:ea typeface="Yu Gothic"/>
                <a:cs typeface="Yu Gothic"/>
              </a:rPr>
              <a:t>・計測画面はLabVIEWで作られており、</a:t>
            </a:r>
          </a:p>
          <a:p>
            <a:pPr algn="l">
              <a:spcAft>
                <a:spcPts val="500"/>
              </a:spcAft>
            </a:pPr>
            <a:r>
              <a:rPr sz="1600" b="0">
                <a:solidFill>
                  <a:srgbClr val="222222"/>
                </a:solidFill>
                <a:latin typeface="Yu Gothic"/>
                <a:ea typeface="Yu Gothic"/>
                <a:cs typeface="Yu Gothic"/>
              </a:rPr>
              <a:t>　評価内容が変わるたびに画面も変わる</a:t>
            </a:r>
          </a:p>
          <a:p>
            <a:pPr algn="l">
              <a:spcAft>
                <a:spcPts val="500"/>
              </a:spcAft>
            </a:pPr>
            <a:r>
              <a:rPr sz="1600" b="0">
                <a:solidFill>
                  <a:srgbClr val="222222"/>
                </a:solidFill>
                <a:latin typeface="Yu Gothic"/>
                <a:ea typeface="Yu Gothic"/>
                <a:cs typeface="Yu Gothic"/>
              </a:rPr>
              <a:t>・別に専用のWeb画面を作ると、</a:t>
            </a:r>
          </a:p>
          <a:p>
            <a:pPr algn="l">
              <a:spcAft>
                <a:spcPts val="500"/>
              </a:spcAft>
            </a:pPr>
            <a:r>
              <a:rPr sz="1600" b="0">
                <a:solidFill>
                  <a:srgbClr val="222222"/>
                </a:solidFill>
                <a:latin typeface="Yu Gothic"/>
                <a:ea typeface="Yu Gothic"/>
                <a:cs typeface="Yu Gothic"/>
              </a:rPr>
              <a:t>　変更のたびに二重の修正が必要になる</a:t>
            </a:r>
          </a:p>
        </p:txBody>
      </p:sp>
      <p:sp>
        <p:nvSpPr>
          <p:cNvPr id="6" name="TextBox 5"/>
          <p:cNvSpPr txBox="1"/>
          <p:nvPr/>
        </p:nvSpPr>
        <p:spPr>
          <a:xfrm>
            <a:off x="640080" y="3931920"/>
            <a:ext cx="10881360" cy="1828800"/>
          </a:xfrm>
          <a:prstGeom prst="rect">
            <a:avLst/>
          </a:prstGeom>
          <a:noFill/>
        </p:spPr>
        <p:txBody>
          <a:bodyPr wrap="square" anchor="t">
            <a:spAutoFit/>
          </a:bodyPr>
          <a:lstStyle/>
          <a:p>
            <a:pPr algn="l">
              <a:spcAft>
                <a:spcPts val="1200"/>
              </a:spcAft>
            </a:pPr>
            <a:r>
              <a:rPr sz="2000" b="1">
                <a:solidFill>
                  <a:srgbClr val="595A5C"/>
                </a:solidFill>
                <a:latin typeface="Yu Gothic"/>
                <a:ea typeface="Yu Gothic"/>
                <a:cs typeface="Yu Gothic"/>
              </a:rPr>
              <a:t>解くべき課題</a:t>
            </a:r>
          </a:p>
          <a:p>
            <a:pPr algn="ctr">
              <a:spcAft>
                <a:spcPts val="600"/>
              </a:spcAft>
            </a:pPr>
            <a:r>
              <a:rPr sz="2600" b="1">
                <a:solidFill>
                  <a:srgbClr val="1F3A5F"/>
                </a:solidFill>
                <a:latin typeface="Yu Gothic"/>
                <a:ea typeface="Yu Gothic"/>
                <a:cs typeface="Yu Gothic"/>
              </a:rPr>
              <a:t>偏りなく主観を引き出せて、かつ画面の変更に強い仕組みが要る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a:lstStyle/>
          <a:p>
            <a:pPr algn="l">
              <a:spcAft>
                <a:spcPts val="600"/>
              </a:spcAft>
            </a:pPr>
            <a:r>
              <a:rPr sz="3000" b="1">
                <a:solidFill>
                  <a:srgbClr val="FFFFFF"/>
                </a:solidFill>
                <a:latin typeface="Yu Gothic"/>
                <a:ea typeface="Yu Gothic"/>
                <a:cs typeface="Yu Gothic"/>
              </a:rPr>
              <a:t>研究目的</a:t>
            </a:r>
          </a:p>
        </p:txBody>
      </p:sp>
      <p:sp>
        <p:nvSpPr>
          <p:cNvPr id="3" name="TextBox 2"/>
          <p:cNvSpPr txBox="1"/>
          <p:nvPr/>
        </p:nvSpPr>
        <p:spPr>
          <a:xfrm>
            <a:off x="11277295" y="6355080"/>
            <a:ext cx="640080" cy="365760"/>
          </a:xfrm>
          <a:prstGeom prst="rect">
            <a:avLst/>
          </a:prstGeom>
          <a:noFill/>
        </p:spPr>
        <p:txBody>
          <a:bodyPr wrap="square" anchor="t">
            <a:spAutoFit/>
          </a:bodyPr>
          <a:lstStyle/>
          <a:p>
            <a:pPr algn="r">
              <a:spcAft>
                <a:spcPts val="600"/>
              </a:spcAft>
            </a:pPr>
            <a:r>
              <a:rPr sz="1400" b="0">
                <a:solidFill>
                  <a:srgbClr val="595A5C"/>
                </a:solidFill>
                <a:latin typeface="Yu Gothic"/>
                <a:ea typeface="Yu Gothic"/>
                <a:cs typeface="Yu Gothic"/>
              </a:rPr>
              <a:t>4</a:t>
            </a:r>
          </a:p>
        </p:txBody>
      </p:sp>
      <p:sp>
        <p:nvSpPr>
          <p:cNvPr id="4" name="Rounded Rectangle 3"/>
          <p:cNvSpPr/>
          <p:nvPr/>
        </p:nvSpPr>
        <p:spPr>
          <a:xfrm>
            <a:off x="731520" y="1097280"/>
            <a:ext cx="10698480" cy="105156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2200" b="1">
                <a:solidFill>
                  <a:srgbClr val="FFFFFF"/>
                </a:solidFill>
                <a:latin typeface="Yu Gothic"/>
                <a:ea typeface="Yu Gothic"/>
                <a:cs typeface="Yu Gothic"/>
              </a:rPr>
              <a:t>本研究：LabVIEWから大規模言語モデル（LLM）を利用できる接続基盤を構築する</a:t>
            </a:r>
          </a:p>
        </p:txBody>
      </p:sp>
      <p:sp>
        <p:nvSpPr>
          <p:cNvPr id="5" name="Rounded Rectangle 4"/>
          <p:cNvSpPr/>
          <p:nvPr/>
        </p:nvSpPr>
        <p:spPr>
          <a:xfrm>
            <a:off x="731520" y="2286000"/>
            <a:ext cx="10698480" cy="1051560"/>
          </a:xfrm>
          <a:prstGeom prst="roundRect">
            <a:avLst/>
          </a:prstGeom>
          <a:solidFill>
            <a:srgbClr val="EFF3F7"/>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2100" b="1">
                <a:solidFill>
                  <a:srgbClr val="0E7C86"/>
                </a:solidFill>
                <a:latin typeface="Yu Gothic"/>
                <a:ea typeface="Yu Gothic"/>
                <a:cs typeface="Yu Gothic"/>
              </a:rPr>
              <a:t>最終目的：主観情報を多面的かつ効率的に収集できるLLM対話構造を明らかにする</a:t>
            </a:r>
          </a:p>
        </p:txBody>
      </p:sp>
      <p:sp>
        <p:nvSpPr>
          <p:cNvPr id="6" name="Rounded Rectangle 5"/>
          <p:cNvSpPr/>
          <p:nvPr/>
        </p:nvSpPr>
        <p:spPr>
          <a:xfrm>
            <a:off x="731520" y="3520440"/>
            <a:ext cx="3383280" cy="210312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900" b="1">
                <a:solidFill>
                  <a:srgbClr val="0E7C86"/>
                </a:solidFill>
                <a:latin typeface="Yu Gothic"/>
                <a:ea typeface="Yu Gothic"/>
                <a:cs typeface="Yu Gothic"/>
              </a:rPr>
              <a:t>① 画面変更に強い構成</a:t>
            </a:r>
          </a:p>
          <a:p>
            <a:pPr algn="l">
              <a:spcAft>
                <a:spcPts val="500"/>
              </a:spcAft>
            </a:pPr>
            <a:r>
              <a:rPr sz="1500" b="0">
                <a:solidFill>
                  <a:srgbClr val="222222"/>
                </a:solidFill>
                <a:latin typeface="Yu Gothic"/>
                <a:ea typeface="Yu Gothic"/>
                <a:cs typeface="Yu Gothic"/>
              </a:rPr>
              <a:t>LabVIEWをクライアントとし、</a:t>
            </a:r>
          </a:p>
          <a:p>
            <a:pPr algn="l">
              <a:spcAft>
                <a:spcPts val="500"/>
              </a:spcAft>
            </a:pPr>
            <a:r>
              <a:rPr sz="1500" b="0">
                <a:solidFill>
                  <a:srgbClr val="222222"/>
                </a:solidFill>
                <a:latin typeface="Yu Gothic"/>
                <a:ea typeface="Yu Gothic"/>
                <a:cs typeface="Yu Gothic"/>
              </a:rPr>
              <a:t>画面の変更をLabVIEW側だけで</a:t>
            </a:r>
          </a:p>
          <a:p>
            <a:pPr algn="l">
              <a:spcAft>
                <a:spcPts val="500"/>
              </a:spcAft>
            </a:pPr>
            <a:r>
              <a:rPr sz="1500" b="0">
                <a:solidFill>
                  <a:srgbClr val="222222"/>
                </a:solidFill>
                <a:latin typeface="Yu Gothic"/>
                <a:ea typeface="Yu Gothic"/>
                <a:cs typeface="Yu Gothic"/>
              </a:rPr>
              <a:t>完結できるようにする</a:t>
            </a:r>
          </a:p>
        </p:txBody>
      </p:sp>
      <p:sp>
        <p:nvSpPr>
          <p:cNvPr id="7" name="Rounded Rectangle 6"/>
          <p:cNvSpPr/>
          <p:nvPr/>
        </p:nvSpPr>
        <p:spPr>
          <a:xfrm>
            <a:off x="4389120" y="3520440"/>
            <a:ext cx="3383280" cy="210312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900" b="1">
                <a:solidFill>
                  <a:srgbClr val="0E7C86"/>
                </a:solidFill>
                <a:latin typeface="Yu Gothic"/>
                <a:ea typeface="Yu Gothic"/>
                <a:cs typeface="Yu Gothic"/>
              </a:rPr>
              <a:t>② 対話構造を試せる基盤</a:t>
            </a:r>
          </a:p>
          <a:p>
            <a:pPr algn="l">
              <a:spcAft>
                <a:spcPts val="500"/>
              </a:spcAft>
            </a:pPr>
            <a:r>
              <a:rPr sz="1500" b="0">
                <a:solidFill>
                  <a:srgbClr val="222222"/>
                </a:solidFill>
                <a:latin typeface="Yu Gothic"/>
                <a:ea typeface="Yu Gothic"/>
                <a:cs typeface="Yu Gothic"/>
              </a:rPr>
              <a:t>複数のAIが順番に発言する</a:t>
            </a:r>
          </a:p>
          <a:p>
            <a:pPr algn="l">
              <a:spcAft>
                <a:spcPts val="500"/>
              </a:spcAft>
            </a:pPr>
            <a:r>
              <a:rPr sz="1500" b="0">
                <a:solidFill>
                  <a:srgbClr val="222222"/>
                </a:solidFill>
                <a:latin typeface="Yu Gothic"/>
                <a:ea typeface="Yu Gothic"/>
                <a:cs typeface="Yu Gothic"/>
              </a:rPr>
              <a:t>会話をサーバー側で制御し、</a:t>
            </a:r>
          </a:p>
          <a:p>
            <a:pPr algn="l">
              <a:spcAft>
                <a:spcPts val="500"/>
              </a:spcAft>
            </a:pPr>
            <a:r>
              <a:rPr sz="1500" b="0">
                <a:solidFill>
                  <a:srgbClr val="222222"/>
                </a:solidFill>
                <a:latin typeface="Yu Gothic"/>
                <a:ea typeface="Yu Gothic"/>
                <a:cs typeface="Yu Gothic"/>
              </a:rPr>
              <a:t>構成を差し替えられるようにする</a:t>
            </a:r>
          </a:p>
        </p:txBody>
      </p:sp>
      <p:sp>
        <p:nvSpPr>
          <p:cNvPr id="8" name="Rounded Rectangle 7"/>
          <p:cNvSpPr/>
          <p:nvPr/>
        </p:nvSpPr>
        <p:spPr>
          <a:xfrm>
            <a:off x="8046720" y="3520440"/>
            <a:ext cx="3383280" cy="210312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900" b="1">
                <a:solidFill>
                  <a:srgbClr val="0E7C86"/>
                </a:solidFill>
                <a:latin typeface="Yu Gothic"/>
                <a:ea typeface="Yu Gothic"/>
                <a:cs typeface="Yu Gothic"/>
              </a:rPr>
              <a:t>③ 引き継げる環境</a:t>
            </a:r>
          </a:p>
          <a:p>
            <a:pPr algn="l">
              <a:spcAft>
                <a:spcPts val="500"/>
              </a:spcAft>
            </a:pPr>
            <a:r>
              <a:rPr sz="1500" b="0">
                <a:solidFill>
                  <a:srgbClr val="222222"/>
                </a:solidFill>
                <a:latin typeface="Yu Gothic"/>
                <a:ea typeface="Yu Gothic"/>
                <a:cs typeface="Yu Gothic"/>
              </a:rPr>
              <a:t>研究室の他のPCでも</a:t>
            </a:r>
          </a:p>
          <a:p>
            <a:pPr algn="l">
              <a:spcAft>
                <a:spcPts val="500"/>
              </a:spcAft>
            </a:pPr>
            <a:r>
              <a:rPr sz="1500" b="0">
                <a:solidFill>
                  <a:srgbClr val="222222"/>
                </a:solidFill>
                <a:latin typeface="Yu Gothic"/>
                <a:ea typeface="Yu Gothic"/>
                <a:cs typeface="Yu Gothic"/>
              </a:rPr>
              <a:t>同じように動く構成にする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a:lstStyle/>
          <a:p>
            <a:pPr algn="l">
              <a:spcAft>
                <a:spcPts val="600"/>
              </a:spcAft>
            </a:pPr>
            <a:r>
              <a:rPr sz="3000" b="1">
                <a:solidFill>
                  <a:srgbClr val="FFFFFF"/>
                </a:solidFill>
                <a:latin typeface="Yu Gothic"/>
                <a:ea typeface="Yu Gothic"/>
                <a:cs typeface="Yu Gothic"/>
              </a:rPr>
              <a:t>システム構成</a:t>
            </a:r>
          </a:p>
        </p:txBody>
      </p:sp>
      <p:sp>
        <p:nvSpPr>
          <p:cNvPr id="3" name="TextBox 2"/>
          <p:cNvSpPr txBox="1"/>
          <p:nvPr/>
        </p:nvSpPr>
        <p:spPr>
          <a:xfrm>
            <a:off x="11277295" y="6355080"/>
            <a:ext cx="640080" cy="365760"/>
          </a:xfrm>
          <a:prstGeom prst="rect">
            <a:avLst/>
          </a:prstGeom>
          <a:noFill/>
        </p:spPr>
        <p:txBody>
          <a:bodyPr wrap="square" anchor="t">
            <a:spAutoFit/>
          </a:bodyPr>
          <a:lstStyle/>
          <a:p>
            <a:pPr algn="r">
              <a:spcAft>
                <a:spcPts val="600"/>
              </a:spcAft>
            </a:pPr>
            <a:r>
              <a:rPr sz="1400" b="0">
                <a:solidFill>
                  <a:srgbClr val="595A5C"/>
                </a:solidFill>
                <a:latin typeface="Yu Gothic"/>
                <a:ea typeface="Yu Gothic"/>
                <a:cs typeface="Yu Gothic"/>
              </a:rPr>
              <a:t>5</a:t>
            </a:r>
          </a:p>
        </p:txBody>
      </p:sp>
      <p:pic>
        <p:nvPicPr>
          <p:cNvPr id="4" name="Picture 3" descr="fig_asis.png"/>
          <p:cNvPicPr>
            <a:picLocks noChangeAspect="1"/>
          </p:cNvPicPr>
          <p:nvPr/>
        </p:nvPicPr>
        <p:blipFill>
          <a:blip r:embed="rId2"/>
          <a:stretch>
            <a:fillRect/>
          </a:stretch>
        </p:blipFill>
        <p:spPr>
          <a:xfrm>
            <a:off x="457200" y="1195561"/>
            <a:ext cx="11247120" cy="1540798"/>
          </a:xfrm>
          <a:prstGeom prst="rect">
            <a:avLst/>
          </a:prstGeom>
        </p:spPr>
      </p:pic>
      <p:sp>
        <p:nvSpPr>
          <p:cNvPr id="5" name="TextBox 4"/>
          <p:cNvSpPr txBox="1"/>
          <p:nvPr/>
        </p:nvSpPr>
        <p:spPr>
          <a:xfrm>
            <a:off x="457200" y="2809511"/>
            <a:ext cx="11247120" cy="320040"/>
          </a:xfrm>
          <a:prstGeom prst="rect">
            <a:avLst/>
          </a:prstGeom>
          <a:noFill/>
        </p:spPr>
        <p:txBody>
          <a:bodyPr wrap="square" anchor="t">
            <a:spAutoFit/>
          </a:bodyPr>
          <a:lstStyle/>
          <a:p>
            <a:pPr algn="ctr">
              <a:spcAft>
                <a:spcPts val="600"/>
              </a:spcAft>
            </a:pPr>
            <a:r>
              <a:rPr sz="1300" b="0">
                <a:solidFill>
                  <a:srgbClr val="595A5C"/>
                </a:solidFill>
                <a:latin typeface="Yu Gothic"/>
                <a:ea typeface="Yu Gothic"/>
                <a:cs typeface="Yu Gothic"/>
              </a:rPr>
              <a:t>現在のシステム構成（As-Is）</a:t>
            </a:r>
          </a:p>
        </p:txBody>
      </p:sp>
      <p:sp>
        <p:nvSpPr>
          <p:cNvPr id="6" name="Rounded Rectangle 5"/>
          <p:cNvSpPr/>
          <p:nvPr/>
        </p:nvSpPr>
        <p:spPr>
          <a:xfrm>
            <a:off x="640080" y="3657600"/>
            <a:ext cx="3474720" cy="164592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900" b="1">
                <a:solidFill>
                  <a:srgbClr val="0E7C86"/>
                </a:solidFill>
                <a:latin typeface="Yu Gothic"/>
                <a:ea typeface="Yu Gothic"/>
                <a:cs typeface="Yu Gothic"/>
              </a:rPr>
              <a:t>LabVIEW ⇄ サーバー</a:t>
            </a:r>
          </a:p>
          <a:p>
            <a:pPr algn="l">
              <a:spcAft>
                <a:spcPts val="500"/>
              </a:spcAft>
            </a:pPr>
            <a:r>
              <a:rPr sz="1500" b="0">
                <a:solidFill>
                  <a:srgbClr val="222222"/>
                </a:solidFill>
                <a:latin typeface="Yu Gothic"/>
                <a:ea typeface="Yu Gothic"/>
                <a:cs typeface="Yu Gothic"/>
              </a:rPr>
              <a:t>HTTP / JSON</a:t>
            </a:r>
          </a:p>
          <a:p>
            <a:pPr algn="l">
              <a:spcAft>
                <a:spcPts val="500"/>
              </a:spcAft>
            </a:pPr>
            <a:r>
              <a:rPr sz="1500" b="0">
                <a:solidFill>
                  <a:srgbClr val="222222"/>
                </a:solidFill>
                <a:latin typeface="Yu Gothic"/>
                <a:ea typeface="Yu Gothic"/>
                <a:cs typeface="Yu Gothic"/>
              </a:rPr>
              <a:t>文字列をJSONにして送るだけ</a:t>
            </a:r>
          </a:p>
        </p:txBody>
      </p:sp>
      <p:sp>
        <p:nvSpPr>
          <p:cNvPr id="7" name="Rounded Rectangle 6"/>
          <p:cNvSpPr/>
          <p:nvPr/>
        </p:nvSpPr>
        <p:spPr>
          <a:xfrm>
            <a:off x="4389119" y="3657600"/>
            <a:ext cx="3474720" cy="164592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900" b="1">
                <a:solidFill>
                  <a:srgbClr val="0E7C86"/>
                </a:solidFill>
                <a:latin typeface="Yu Gothic"/>
                <a:ea typeface="Yu Gothic"/>
                <a:cs typeface="Yu Gothic"/>
              </a:rPr>
              <a:t>サーバー ⇄ LLM</a:t>
            </a:r>
          </a:p>
          <a:p>
            <a:pPr algn="l">
              <a:spcAft>
                <a:spcPts val="500"/>
              </a:spcAft>
            </a:pPr>
            <a:r>
              <a:rPr sz="1500" b="0">
                <a:solidFill>
                  <a:srgbClr val="222222"/>
                </a:solidFill>
                <a:latin typeface="Yu Gothic"/>
                <a:ea typeface="Yu Gothic"/>
                <a:cs typeface="Yu Gothic"/>
              </a:rPr>
              <a:t>HTTPS</a:t>
            </a:r>
          </a:p>
          <a:p>
            <a:pPr algn="l">
              <a:spcAft>
                <a:spcPts val="500"/>
              </a:spcAft>
            </a:pPr>
            <a:r>
              <a:rPr sz="1500" b="0">
                <a:solidFill>
                  <a:srgbClr val="222222"/>
                </a:solidFill>
                <a:latin typeface="Yu Gothic"/>
                <a:ea typeface="Yu Gothic"/>
                <a:cs typeface="Yu Gothic"/>
              </a:rPr>
              <a:t>APIキーはサーバー内のみ保持し</a:t>
            </a:r>
          </a:p>
          <a:p>
            <a:pPr algn="l">
              <a:spcAft>
                <a:spcPts val="500"/>
              </a:spcAft>
            </a:pPr>
            <a:r>
              <a:rPr sz="1500" b="0">
                <a:solidFill>
                  <a:srgbClr val="222222"/>
                </a:solidFill>
                <a:latin typeface="Yu Gothic"/>
                <a:ea typeface="Yu Gothic"/>
                <a:cs typeface="Yu Gothic"/>
              </a:rPr>
              <a:t>LabVIEWには渡さない</a:t>
            </a:r>
          </a:p>
        </p:txBody>
      </p:sp>
      <p:sp>
        <p:nvSpPr>
          <p:cNvPr id="8" name="Rounded Rectangle 7"/>
          <p:cNvSpPr/>
          <p:nvPr/>
        </p:nvSpPr>
        <p:spPr>
          <a:xfrm>
            <a:off x="8138158" y="3657600"/>
            <a:ext cx="3474720" cy="164592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900" b="1">
                <a:solidFill>
                  <a:srgbClr val="0E7C86"/>
                </a:solidFill>
                <a:latin typeface="Yu Gothic"/>
                <a:ea typeface="Yu Gothic"/>
                <a:cs typeface="Yu Gothic"/>
              </a:rPr>
              <a:t>実行環境</a:t>
            </a:r>
          </a:p>
          <a:p>
            <a:pPr algn="l">
              <a:spcAft>
                <a:spcPts val="500"/>
              </a:spcAft>
            </a:pPr>
            <a:r>
              <a:rPr sz="1500" b="0">
                <a:solidFill>
                  <a:srgbClr val="222222"/>
                </a:solidFill>
                <a:latin typeface="Yu Gothic"/>
                <a:ea typeface="Yu Gothic"/>
                <a:cs typeface="Yu Gothic"/>
              </a:rPr>
              <a:t>Docker</a:t>
            </a:r>
          </a:p>
          <a:p>
            <a:pPr algn="l">
              <a:spcAft>
                <a:spcPts val="500"/>
              </a:spcAft>
            </a:pPr>
            <a:r>
              <a:rPr sz="1500" b="0">
                <a:solidFill>
                  <a:srgbClr val="222222"/>
                </a:solidFill>
                <a:latin typeface="Yu Gothic"/>
                <a:ea typeface="Yu Gothic"/>
                <a:cs typeface="Yu Gothic"/>
              </a:rPr>
              <a:t>どのPCでも同じ環境で起動できる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a:lstStyle/>
          <a:p>
            <a:pPr algn="l">
              <a:spcAft>
                <a:spcPts val="600"/>
              </a:spcAft>
            </a:pPr>
            <a:r>
              <a:rPr sz="3000" b="1">
                <a:solidFill>
                  <a:srgbClr val="FFFFFF"/>
                </a:solidFill>
                <a:latin typeface="Yu Gothic"/>
                <a:ea typeface="Yu Gothic"/>
                <a:cs typeface="Yu Gothic"/>
              </a:rPr>
              <a:t>設計方針 ― LabVIEW側の実装を増やさない</a:t>
            </a:r>
          </a:p>
        </p:txBody>
      </p:sp>
      <p:sp>
        <p:nvSpPr>
          <p:cNvPr id="3" name="TextBox 2"/>
          <p:cNvSpPr txBox="1"/>
          <p:nvPr/>
        </p:nvSpPr>
        <p:spPr>
          <a:xfrm>
            <a:off x="11277295" y="6355080"/>
            <a:ext cx="640080" cy="365760"/>
          </a:xfrm>
          <a:prstGeom prst="rect">
            <a:avLst/>
          </a:prstGeom>
          <a:noFill/>
        </p:spPr>
        <p:txBody>
          <a:bodyPr wrap="square" anchor="t">
            <a:spAutoFit/>
          </a:bodyPr>
          <a:lstStyle/>
          <a:p>
            <a:pPr algn="r">
              <a:spcAft>
                <a:spcPts val="600"/>
              </a:spcAft>
            </a:pPr>
            <a:r>
              <a:rPr sz="1400" b="0">
                <a:solidFill>
                  <a:srgbClr val="595A5C"/>
                </a:solidFill>
                <a:latin typeface="Yu Gothic"/>
                <a:ea typeface="Yu Gothic"/>
                <a:cs typeface="Yu Gothic"/>
              </a:rPr>
              <a:t>6</a:t>
            </a:r>
          </a:p>
        </p:txBody>
      </p:sp>
      <p:sp>
        <p:nvSpPr>
          <p:cNvPr id="4" name="TextBox 3"/>
          <p:cNvSpPr txBox="1"/>
          <p:nvPr/>
        </p:nvSpPr>
        <p:spPr>
          <a:xfrm>
            <a:off x="731520" y="1051560"/>
            <a:ext cx="10698480" cy="457200"/>
          </a:xfrm>
          <a:prstGeom prst="rect">
            <a:avLst/>
          </a:prstGeom>
          <a:noFill/>
        </p:spPr>
        <p:txBody>
          <a:bodyPr wrap="square" anchor="t">
            <a:spAutoFit/>
          </a:bodyPr>
          <a:lstStyle/>
          <a:p>
            <a:pPr algn="l">
              <a:spcAft>
                <a:spcPts val="600"/>
              </a:spcAft>
            </a:pPr>
            <a:r>
              <a:rPr sz="1800" b="0">
                <a:solidFill>
                  <a:srgbClr val="595A5C"/>
                </a:solidFill>
                <a:latin typeface="Yu Gothic"/>
                <a:ea typeface="Yu Gothic"/>
                <a:cs typeface="Yu Gothic"/>
              </a:rPr>
              <a:t>サーバー側で吸収することで、LabVIEW側は最小限の部品で済むように設計した</a:t>
            </a:r>
          </a:p>
        </p:txBody>
      </p:sp>
      <p:graphicFrame>
        <p:nvGraphicFramePr>
          <p:cNvPr id="5" name="Table 4"/>
          <p:cNvGraphicFramePr>
            <a:graphicFrameLocks noGrp="1"/>
          </p:cNvGraphicFramePr>
          <p:nvPr/>
        </p:nvGraphicFramePr>
        <p:xfrm>
          <a:off x="731520" y="1737360"/>
          <a:ext cx="10698480" cy="3063240"/>
        </p:xfrm>
        <a:graphic>
          <a:graphicData uri="http://schemas.openxmlformats.org/drawingml/2006/table">
            <a:tbl>
              <a:tblPr firstRow="1" bandRow="1">
                <a:tableStyleId>{5C22544A-7EE6-4342-B048-85BDC9FD1C3A}</a:tableStyleId>
              </a:tblPr>
              <a:tblGrid>
                <a:gridCol w="2377440"/>
                <a:gridCol w="3962400"/>
                <a:gridCol w="4358640"/>
              </a:tblGrid>
              <a:tr h="457200">
                <a:tc>
                  <a:txBody>
                    <a:bodyPr wrap="square"/>
                    <a:lstStyle/>
                    <a:p>
                      <a:pPr algn="l">
                        <a:spcAft>
                          <a:spcPts val="0"/>
                        </a:spcAft>
                      </a:pPr>
                      <a:r>
                        <a:rPr sz="1700" b="1">
                          <a:solidFill>
                            <a:srgbClr val="FFFFFF"/>
                          </a:solidFill>
                          <a:latin typeface="Yu Gothic"/>
                          <a:ea typeface="Yu Gothic"/>
                          <a:cs typeface="Yu Gothic"/>
                        </a:rPr>
                        <a:t>工夫</a:t>
                      </a:r>
                    </a:p>
                  </a:txBody>
                  <a:tcPr marL="91440" marR="91440" anchor="ctr">
                    <a:solidFill>
                      <a:srgbClr val="1F3A5F"/>
                    </a:solidFill>
                  </a:tcPr>
                </a:tc>
                <a:tc>
                  <a:txBody>
                    <a:bodyPr wrap="square"/>
                    <a:lstStyle/>
                    <a:p>
                      <a:pPr algn="l">
                        <a:spcAft>
                          <a:spcPts val="0"/>
                        </a:spcAft>
                      </a:pPr>
                      <a:r>
                        <a:rPr sz="1700" b="1">
                          <a:solidFill>
                            <a:srgbClr val="FFFFFF"/>
                          </a:solidFill>
                          <a:latin typeface="Yu Gothic"/>
                          <a:ea typeface="Yu Gothic"/>
                          <a:cs typeface="Yu Gothic"/>
                        </a:rPr>
                        <a:t>内容</a:t>
                      </a:r>
                    </a:p>
                  </a:txBody>
                  <a:tcPr marL="91440" marR="91440" anchor="ctr">
                    <a:solidFill>
                      <a:srgbClr val="1F3A5F"/>
                    </a:solidFill>
                  </a:tcPr>
                </a:tc>
                <a:tc>
                  <a:txBody>
                    <a:bodyPr wrap="square"/>
                    <a:lstStyle/>
                    <a:p>
                      <a:pPr algn="l">
                        <a:spcAft>
                          <a:spcPts val="0"/>
                        </a:spcAft>
                      </a:pPr>
                      <a:r>
                        <a:rPr sz="1700" b="1">
                          <a:solidFill>
                            <a:srgbClr val="FFFFFF"/>
                          </a:solidFill>
                          <a:latin typeface="Yu Gothic"/>
                          <a:ea typeface="Yu Gothic"/>
                          <a:cs typeface="Yu Gothic"/>
                        </a:rPr>
                        <a:t>LabVIEW側での効果</a:t>
                      </a:r>
                    </a:p>
                  </a:txBody>
                  <a:tcPr marL="91440" marR="91440" anchor="ctr">
                    <a:solidFill>
                      <a:srgbClr val="1F3A5F"/>
                    </a:solidFill>
                  </a:tcPr>
                </a:tc>
              </a:tr>
              <a:tr h="868680">
                <a:tc>
                  <a:txBody>
                    <a:bodyPr wrap="square"/>
                    <a:lstStyle/>
                    <a:p>
                      <a:pPr algn="l">
                        <a:spcAft>
                          <a:spcPts val="0"/>
                        </a:spcAft>
                      </a:pPr>
                      <a:r>
                        <a:rPr sz="1600" b="0">
                          <a:solidFill>
                            <a:srgbClr val="222222"/>
                          </a:solidFill>
                          <a:latin typeface="Yu Gothic"/>
                          <a:ea typeface="Yu Gothic"/>
                          <a:cs typeface="Yu Gothic"/>
                        </a:rPr>
                        <a:t>① 平坦なJSON</a:t>
                      </a:r>
                    </a:p>
                  </a:txBody>
                  <a:tcPr marL="91440" marR="91440" anchor="ctr">
                    <a:solidFill>
                      <a:srgbClr val="FFFFFF"/>
                    </a:solidFill>
                  </a:tcPr>
                </a:tc>
                <a:tc>
                  <a:txBody>
                    <a:bodyPr wrap="square"/>
                    <a:lstStyle/>
                    <a:p>
                      <a:pPr algn="l">
                        <a:spcAft>
                          <a:spcPts val="0"/>
                        </a:spcAft>
                      </a:pPr>
                      <a:r>
                        <a:rPr sz="1600" b="0">
                          <a:solidFill>
                            <a:srgbClr val="222222"/>
                          </a:solidFill>
                          <a:latin typeface="Yu Gothic"/>
                          <a:ea typeface="Yu Gothic"/>
                          <a:cs typeface="Yu Gothic"/>
                        </a:rPr>
                        <a:t>入れ子構造をやめ、フラットな形にする</a:t>
                      </a:r>
                    </a:p>
                  </a:txBody>
                  <a:tcPr marL="91440" marR="91440" anchor="ctr">
                    <a:solidFill>
                      <a:srgbClr val="FFFFFF"/>
                    </a:solidFill>
                  </a:tcPr>
                </a:tc>
                <a:tc>
                  <a:txBody>
                    <a:bodyPr wrap="square"/>
                    <a:lstStyle/>
                    <a:p>
                      <a:pPr algn="l">
                        <a:spcAft>
                          <a:spcPts val="0"/>
                        </a:spcAft>
                      </a:pPr>
                      <a:r>
                        <a:rPr sz="1600" b="0">
                          <a:solidFill>
                            <a:srgbClr val="222222"/>
                          </a:solidFill>
                          <a:latin typeface="Yu Gothic"/>
                          <a:ea typeface="Yu Gothic"/>
                          <a:cs typeface="Yu Gothic"/>
                        </a:rPr>
                        <a:t>クラスタを1つ作るだけで送受信できる</a:t>
                      </a:r>
                    </a:p>
                  </a:txBody>
                  <a:tcPr marL="91440" marR="91440" anchor="ctr">
                    <a:solidFill>
                      <a:srgbClr val="FFFFFF"/>
                    </a:solidFill>
                  </a:tcPr>
                </a:tc>
              </a:tr>
              <a:tr h="868680">
                <a:tc>
                  <a:txBody>
                    <a:bodyPr wrap="square"/>
                    <a:lstStyle/>
                    <a:p>
                      <a:pPr algn="l">
                        <a:spcAft>
                          <a:spcPts val="0"/>
                        </a:spcAft>
                      </a:pPr>
                      <a:r>
                        <a:rPr sz="1600" b="0">
                          <a:solidFill>
                            <a:srgbClr val="222222"/>
                          </a:solidFill>
                          <a:latin typeface="Yu Gothic"/>
                          <a:ea typeface="Yu Gothic"/>
                          <a:cs typeface="Yu Gothic"/>
                        </a:rPr>
                        <a:t>② 常にHTTP 200</a:t>
                      </a:r>
                    </a:p>
                  </a:txBody>
                  <a:tcPr marL="91440" marR="91440" anchor="ctr">
                    <a:solidFill>
                      <a:srgbClr val="EFF3F7"/>
                    </a:solidFill>
                  </a:tcPr>
                </a:tc>
                <a:tc>
                  <a:txBody>
                    <a:bodyPr wrap="square"/>
                    <a:lstStyle/>
                    <a:p>
                      <a:pPr algn="l">
                        <a:spcAft>
                          <a:spcPts val="0"/>
                        </a:spcAft>
                      </a:pPr>
                      <a:r>
                        <a:rPr sz="1600" b="0">
                          <a:solidFill>
                            <a:srgbClr val="222222"/>
                          </a:solidFill>
                          <a:latin typeface="Yu Gothic"/>
                          <a:ea typeface="Yu Gothic"/>
                          <a:cs typeface="Yu Gothic"/>
                        </a:rPr>
                        <a:t>成否は本文の ok フラグで表す</a:t>
                      </a:r>
                    </a:p>
                  </a:txBody>
                  <a:tcPr marL="91440" marR="91440" anchor="ctr">
                    <a:solidFill>
                      <a:srgbClr val="EFF3F7"/>
                    </a:solidFill>
                  </a:tcPr>
                </a:tc>
                <a:tc>
                  <a:txBody>
                    <a:bodyPr wrap="square"/>
                    <a:lstStyle/>
                    <a:p>
                      <a:pPr algn="l">
                        <a:spcAft>
                          <a:spcPts val="0"/>
                        </a:spcAft>
                      </a:pPr>
                      <a:r>
                        <a:rPr sz="1600" b="0">
                          <a:solidFill>
                            <a:srgbClr val="222222"/>
                          </a:solidFill>
                          <a:latin typeface="Yu Gothic"/>
                          <a:ea typeface="Yu Gothic"/>
                          <a:cs typeface="Yu Gothic"/>
                        </a:rPr>
                        <a:t>ステータス分岐が不要。Case Structure 1つで済む</a:t>
                      </a:r>
                    </a:p>
                  </a:txBody>
                  <a:tcPr marL="91440" marR="91440" anchor="ctr">
                    <a:solidFill>
                      <a:srgbClr val="EFF3F7"/>
                    </a:solidFill>
                  </a:tcPr>
                </a:tc>
              </a:tr>
              <a:tr h="868680">
                <a:tc>
                  <a:txBody>
                    <a:bodyPr wrap="square"/>
                    <a:lstStyle/>
                    <a:p>
                      <a:pPr algn="l">
                        <a:spcAft>
                          <a:spcPts val="0"/>
                        </a:spcAft>
                      </a:pPr>
                      <a:r>
                        <a:rPr sz="1600" b="0">
                          <a:solidFill>
                            <a:srgbClr val="222222"/>
                          </a:solidFill>
                          <a:latin typeface="Yu Gothic"/>
                          <a:ea typeface="Yu Gothic"/>
                          <a:cs typeface="Yu Gothic"/>
                        </a:rPr>
                        <a:t>③ 会話を1本の文字列でも返す</a:t>
                      </a:r>
                    </a:p>
                  </a:txBody>
                  <a:tcPr marL="91440" marR="91440" anchor="ctr">
                    <a:solidFill>
                      <a:srgbClr val="FFFFFF"/>
                    </a:solidFill>
                  </a:tcPr>
                </a:tc>
                <a:tc>
                  <a:txBody>
                    <a:bodyPr wrap="square"/>
                    <a:lstStyle/>
                    <a:p>
                      <a:pPr algn="l">
                        <a:spcAft>
                          <a:spcPts val="0"/>
                        </a:spcAft>
                      </a:pPr>
                      <a:r>
                        <a:rPr sz="1600" b="0">
                          <a:solidFill>
                            <a:srgbClr val="222222"/>
                          </a:solidFill>
                          <a:latin typeface="Yu Gothic"/>
                          <a:ea typeface="Yu Gothic"/>
                          <a:cs typeface="Yu Gothic"/>
                        </a:rPr>
                        <a:t>発言の配列に加え、連結済みの文字列も返す</a:t>
                      </a:r>
                    </a:p>
                  </a:txBody>
                  <a:tcPr marL="91440" marR="91440" anchor="ctr">
                    <a:solidFill>
                      <a:srgbClr val="FFFFFF"/>
                    </a:solidFill>
                  </a:tcPr>
                </a:tc>
                <a:tc>
                  <a:txBody>
                    <a:bodyPr wrap="square"/>
                    <a:lstStyle/>
                    <a:p>
                      <a:pPr algn="l">
                        <a:spcAft>
                          <a:spcPts val="0"/>
                        </a:spcAft>
                      </a:pPr>
                      <a:r>
                        <a:rPr sz="1600" b="0">
                          <a:solidFill>
                            <a:srgbClr val="222222"/>
                          </a:solidFill>
                          <a:latin typeface="Yu Gothic"/>
                          <a:ea typeface="Yu Gothic"/>
                          <a:cs typeface="Yu Gothic"/>
                        </a:rPr>
                        <a:t>配列を解析せずに会話全体を表示できる</a:t>
                      </a:r>
                    </a:p>
                  </a:txBody>
                  <a:tcPr marL="91440" marR="91440" anchor="ctr">
                    <a:solidFill>
                      <a:srgbClr val="FFFFFF"/>
                    </a:solidFill>
                  </a:tcPr>
                </a:tc>
              </a:tr>
            </a:tbl>
          </a:graphicData>
        </a:graphic>
      </p:graphicFrame>
      <p:sp>
        <p:nvSpPr>
          <p:cNvPr id="6" name="TextBox 5"/>
          <p:cNvSpPr txBox="1"/>
          <p:nvPr/>
        </p:nvSpPr>
        <p:spPr>
          <a:xfrm>
            <a:off x="731520" y="5029200"/>
            <a:ext cx="10698480" cy="914400"/>
          </a:xfrm>
          <a:prstGeom prst="rect">
            <a:avLst/>
          </a:prstGeom>
          <a:noFill/>
        </p:spPr>
        <p:txBody>
          <a:bodyPr wrap="square" anchor="t">
            <a:spAutoFit/>
          </a:bodyPr>
          <a:lstStyle/>
          <a:p>
            <a:pPr algn="ctr">
              <a:spcAft>
                <a:spcPts val="600"/>
              </a:spcAft>
            </a:pPr>
            <a:r>
              <a:rPr sz="2000" b="1">
                <a:solidFill>
                  <a:srgbClr val="1F3A5F"/>
                </a:solidFill>
                <a:latin typeface="Yu Gothic"/>
                <a:ea typeface="Yu Gothic"/>
                <a:cs typeface="Yu Gothic"/>
              </a:rPr>
              <a:t>→ 複雑さをサーバー側に寄せることで、画面の変更にLabVIEW側だけで追従できる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a:lstStyle/>
          <a:p>
            <a:pPr algn="l">
              <a:spcAft>
                <a:spcPts val="600"/>
              </a:spcAft>
            </a:pPr>
            <a:r>
              <a:rPr sz="3000" b="1">
                <a:solidFill>
                  <a:srgbClr val="FFFFFF"/>
                </a:solidFill>
                <a:latin typeface="Yu Gothic"/>
                <a:ea typeface="Yu Gothic"/>
                <a:cs typeface="Yu Gothic"/>
              </a:rPr>
              <a:t>マルチエージェント化の段階</a:t>
            </a:r>
          </a:p>
        </p:txBody>
      </p:sp>
      <p:sp>
        <p:nvSpPr>
          <p:cNvPr id="3" name="TextBox 2"/>
          <p:cNvSpPr txBox="1"/>
          <p:nvPr/>
        </p:nvSpPr>
        <p:spPr>
          <a:xfrm>
            <a:off x="11277295" y="6355080"/>
            <a:ext cx="640080" cy="365760"/>
          </a:xfrm>
          <a:prstGeom prst="rect">
            <a:avLst/>
          </a:prstGeom>
          <a:noFill/>
        </p:spPr>
        <p:txBody>
          <a:bodyPr wrap="square" anchor="t">
            <a:spAutoFit/>
          </a:bodyPr>
          <a:lstStyle/>
          <a:p>
            <a:pPr algn="r">
              <a:spcAft>
                <a:spcPts val="600"/>
              </a:spcAft>
            </a:pPr>
            <a:r>
              <a:rPr sz="1400" b="0">
                <a:solidFill>
                  <a:srgbClr val="595A5C"/>
                </a:solidFill>
                <a:latin typeface="Yu Gothic"/>
                <a:ea typeface="Yu Gothic"/>
                <a:cs typeface="Yu Gothic"/>
              </a:rPr>
              <a:t>7</a:t>
            </a:r>
          </a:p>
        </p:txBody>
      </p:sp>
      <p:pic>
        <p:nvPicPr>
          <p:cNvPr id="4" name="Picture 3" descr="fig_tobe.png"/>
          <p:cNvPicPr>
            <a:picLocks noChangeAspect="1"/>
          </p:cNvPicPr>
          <p:nvPr/>
        </p:nvPicPr>
        <p:blipFill>
          <a:blip r:embed="rId2"/>
          <a:stretch>
            <a:fillRect/>
          </a:stretch>
        </p:blipFill>
        <p:spPr>
          <a:xfrm>
            <a:off x="1082121" y="1097280"/>
            <a:ext cx="5150957" cy="4206240"/>
          </a:xfrm>
          <a:prstGeom prst="rect">
            <a:avLst/>
          </a:prstGeom>
        </p:spPr>
      </p:pic>
      <p:sp>
        <p:nvSpPr>
          <p:cNvPr id="5" name="TextBox 4"/>
          <p:cNvSpPr txBox="1"/>
          <p:nvPr/>
        </p:nvSpPr>
        <p:spPr>
          <a:xfrm>
            <a:off x="640080" y="5376672"/>
            <a:ext cx="6035040" cy="320040"/>
          </a:xfrm>
          <a:prstGeom prst="rect">
            <a:avLst/>
          </a:prstGeom>
          <a:noFill/>
        </p:spPr>
        <p:txBody>
          <a:bodyPr wrap="square" anchor="t">
            <a:spAutoFit/>
          </a:bodyPr>
          <a:lstStyle/>
          <a:p>
            <a:pPr algn="ctr">
              <a:spcAft>
                <a:spcPts val="600"/>
              </a:spcAft>
            </a:pPr>
            <a:r>
              <a:rPr sz="1300" b="0">
                <a:solidFill>
                  <a:srgbClr val="595A5C"/>
                </a:solidFill>
                <a:latin typeface="Yu Gothic"/>
                <a:ea typeface="Yu Gothic"/>
                <a:cs typeface="Yu Gothic"/>
              </a:rPr>
              <a:t>将来構成（To-Be）</a:t>
            </a:r>
          </a:p>
        </p:txBody>
      </p:sp>
      <p:graphicFrame>
        <p:nvGraphicFramePr>
          <p:cNvPr id="6" name="Table 5"/>
          <p:cNvGraphicFramePr>
            <a:graphicFrameLocks noGrp="1"/>
          </p:cNvGraphicFramePr>
          <p:nvPr/>
        </p:nvGraphicFramePr>
        <p:xfrm>
          <a:off x="7040880" y="1371600"/>
          <a:ext cx="4480560" cy="2606040"/>
        </p:xfrm>
        <a:graphic>
          <a:graphicData uri="http://schemas.openxmlformats.org/drawingml/2006/table">
            <a:tbl>
              <a:tblPr firstRow="1" bandRow="1">
                <a:tableStyleId>{5C22544A-7EE6-4342-B048-85BDC9FD1C3A}</a:tableStyleId>
              </a:tblPr>
              <a:tblGrid>
                <a:gridCol w="533400"/>
                <a:gridCol w="2667000"/>
                <a:gridCol w="1280160"/>
              </a:tblGrid>
              <a:tr h="411480">
                <a:tc>
                  <a:txBody>
                    <a:bodyPr wrap="square"/>
                    <a:lstStyle/>
                    <a:p>
                      <a:pPr algn="l">
                        <a:spcAft>
                          <a:spcPts val="0"/>
                        </a:spcAft>
                      </a:pPr>
                      <a:r>
                        <a:rPr sz="1500" b="1">
                          <a:solidFill>
                            <a:srgbClr val="FFFFFF"/>
                          </a:solidFill>
                          <a:latin typeface="Yu Gothic"/>
                          <a:ea typeface="Yu Gothic"/>
                          <a:cs typeface="Yu Gothic"/>
                        </a:rPr>
                        <a:t>段階</a:t>
                      </a:r>
                    </a:p>
                  </a:txBody>
                  <a:tcPr marL="91440" marR="91440" anchor="ctr">
                    <a:solidFill>
                      <a:srgbClr val="1F3A5F"/>
                    </a:solidFill>
                  </a:tcPr>
                </a:tc>
                <a:tc>
                  <a:txBody>
                    <a:bodyPr wrap="square"/>
                    <a:lstStyle/>
                    <a:p>
                      <a:pPr algn="l">
                        <a:spcAft>
                          <a:spcPts val="0"/>
                        </a:spcAft>
                      </a:pPr>
                      <a:r>
                        <a:rPr sz="1500" b="1">
                          <a:solidFill>
                            <a:srgbClr val="FFFFFF"/>
                          </a:solidFill>
                          <a:latin typeface="Yu Gothic"/>
                          <a:ea typeface="Yu Gothic"/>
                          <a:cs typeface="Yu Gothic"/>
                        </a:rPr>
                        <a:t>内容</a:t>
                      </a:r>
                    </a:p>
                  </a:txBody>
                  <a:tcPr marL="91440" marR="91440" anchor="ctr">
                    <a:solidFill>
                      <a:srgbClr val="1F3A5F"/>
                    </a:solidFill>
                  </a:tcPr>
                </a:tc>
                <a:tc>
                  <a:txBody>
                    <a:bodyPr wrap="square"/>
                    <a:lstStyle/>
                    <a:p>
                      <a:pPr algn="l">
                        <a:spcAft>
                          <a:spcPts val="0"/>
                        </a:spcAft>
                      </a:pPr>
                      <a:r>
                        <a:rPr sz="1500" b="1">
                          <a:solidFill>
                            <a:srgbClr val="FFFFFF"/>
                          </a:solidFill>
                          <a:latin typeface="Yu Gothic"/>
                          <a:ea typeface="Yu Gothic"/>
                          <a:cs typeface="Yu Gothic"/>
                        </a:rPr>
                        <a:t>状態</a:t>
                      </a:r>
                    </a:p>
                  </a:txBody>
                  <a:tcPr marL="91440" marR="91440" anchor="ctr">
                    <a:solidFill>
                      <a:srgbClr val="1F3A5F"/>
                    </a:solidFill>
                  </a:tcPr>
                </a:tc>
              </a:tr>
              <a:tr h="731520">
                <a:tc>
                  <a:txBody>
                    <a:bodyPr wrap="square"/>
                    <a:lstStyle/>
                    <a:p>
                      <a:pPr algn="l">
                        <a:spcAft>
                          <a:spcPts val="0"/>
                        </a:spcAft>
                      </a:pPr>
                      <a:r>
                        <a:rPr sz="1400" b="0">
                          <a:solidFill>
                            <a:srgbClr val="222222"/>
                          </a:solidFill>
                          <a:latin typeface="Yu Gothic"/>
                          <a:ea typeface="Yu Gothic"/>
                          <a:cs typeface="Yu Gothic"/>
                        </a:rPr>
                        <a:t>A</a:t>
                      </a:r>
                    </a:p>
                  </a:txBody>
                  <a:tcPr marL="91440" marR="91440" anchor="ctr">
                    <a:solidFill>
                      <a:srgbClr val="FFFFFF"/>
                    </a:solidFill>
                  </a:tcPr>
                </a:tc>
                <a:tc>
                  <a:txBody>
                    <a:bodyPr wrap="square"/>
                    <a:lstStyle/>
                    <a:p>
                      <a:pPr algn="l">
                        <a:spcAft>
                          <a:spcPts val="0"/>
                        </a:spcAft>
                      </a:pPr>
                      <a:r>
                        <a:rPr sz="1400" b="0">
                          <a:solidFill>
                            <a:srgbClr val="222222"/>
                          </a:solidFill>
                          <a:latin typeface="Yu Gothic"/>
                          <a:ea typeface="Yu Gothic"/>
                          <a:cs typeface="Yu Gothic"/>
                        </a:rPr>
                        <a:t>LabVIEW主導でAIを1体ずつ呼ぶ</a:t>
                      </a:r>
                    </a:p>
                  </a:txBody>
                  <a:tcPr marL="91440" marR="91440" anchor="ctr">
                    <a:solidFill>
                      <a:srgbClr val="FFFFFF"/>
                    </a:solidFill>
                  </a:tcPr>
                </a:tc>
                <a:tc>
                  <a:txBody>
                    <a:bodyPr wrap="square"/>
                    <a:lstStyle/>
                    <a:p>
                      <a:pPr algn="l">
                        <a:spcAft>
                          <a:spcPts val="0"/>
                        </a:spcAft>
                      </a:pPr>
                      <a:r>
                        <a:rPr sz="1400" b="0">
                          <a:solidFill>
                            <a:srgbClr val="222222"/>
                          </a:solidFill>
                          <a:latin typeface="Yu Gothic"/>
                          <a:ea typeface="Yu Gothic"/>
                          <a:cs typeface="Yu Gothic"/>
                        </a:rPr>
                        <a:t>実現可能</a:t>
                      </a:r>
                    </a:p>
                  </a:txBody>
                  <a:tcPr marL="91440" marR="91440" anchor="ctr">
                    <a:solidFill>
                      <a:srgbClr val="FFFFFF"/>
                    </a:solidFill>
                  </a:tcPr>
                </a:tc>
              </a:tr>
              <a:tr h="731520">
                <a:tc>
                  <a:txBody>
                    <a:bodyPr wrap="square"/>
                    <a:lstStyle/>
                    <a:p>
                      <a:pPr algn="l">
                        <a:spcAft>
                          <a:spcPts val="0"/>
                        </a:spcAft>
                      </a:pPr>
                      <a:r>
                        <a:rPr sz="1400" b="1">
                          <a:solidFill>
                            <a:srgbClr val="C0392B"/>
                          </a:solidFill>
                          <a:latin typeface="Yu Gothic"/>
                          <a:ea typeface="Yu Gothic"/>
                          <a:cs typeface="Yu Gothic"/>
                        </a:rPr>
                        <a:t>B</a:t>
                      </a:r>
                    </a:p>
                  </a:txBody>
                  <a:tcPr marL="91440" marR="91440" anchor="ctr">
                    <a:solidFill>
                      <a:srgbClr val="FDECEA"/>
                    </a:solidFill>
                  </a:tcPr>
                </a:tc>
                <a:tc>
                  <a:txBody>
                    <a:bodyPr wrap="square"/>
                    <a:lstStyle/>
                    <a:p>
                      <a:pPr algn="l">
                        <a:spcAft>
                          <a:spcPts val="0"/>
                        </a:spcAft>
                      </a:pPr>
                      <a:r>
                        <a:rPr sz="1400" b="1">
                          <a:solidFill>
                            <a:srgbClr val="C0392B"/>
                          </a:solidFill>
                          <a:latin typeface="Yu Gothic"/>
                          <a:ea typeface="Yu Gothic"/>
                          <a:cs typeface="Yu Gothic"/>
                        </a:rPr>
                        <a:t>サーバーが発言順を制御しまとめて返す</a:t>
                      </a:r>
                    </a:p>
                  </a:txBody>
                  <a:tcPr marL="91440" marR="91440" anchor="ctr">
                    <a:solidFill>
                      <a:srgbClr val="FDECEA"/>
                    </a:solidFill>
                  </a:tcPr>
                </a:tc>
                <a:tc>
                  <a:txBody>
                    <a:bodyPr wrap="square"/>
                    <a:lstStyle/>
                    <a:p>
                      <a:pPr algn="l">
                        <a:spcAft>
                          <a:spcPts val="0"/>
                        </a:spcAft>
                      </a:pPr>
                      <a:r>
                        <a:rPr sz="1400" b="1">
                          <a:solidFill>
                            <a:srgbClr val="C0392B"/>
                          </a:solidFill>
                          <a:latin typeface="Yu Gothic"/>
                          <a:ea typeface="Yu Gothic"/>
                          <a:cs typeface="Yu Gothic"/>
                        </a:rPr>
                        <a:t>実装完了 ←現在地</a:t>
                      </a:r>
                    </a:p>
                  </a:txBody>
                  <a:tcPr marL="91440" marR="91440" anchor="ctr">
                    <a:solidFill>
                      <a:srgbClr val="FDECEA"/>
                    </a:solidFill>
                  </a:tcPr>
                </a:tc>
              </a:tr>
              <a:tr h="731520">
                <a:tc>
                  <a:txBody>
                    <a:bodyPr wrap="square"/>
                    <a:lstStyle/>
                    <a:p>
                      <a:pPr algn="l">
                        <a:spcAft>
                          <a:spcPts val="0"/>
                        </a:spcAft>
                      </a:pPr>
                      <a:r>
                        <a:rPr sz="1400" b="0">
                          <a:solidFill>
                            <a:srgbClr val="222222"/>
                          </a:solidFill>
                          <a:latin typeface="Yu Gothic"/>
                          <a:ea typeface="Yu Gothic"/>
                          <a:cs typeface="Yu Gothic"/>
                        </a:rPr>
                        <a:t>C</a:t>
                      </a:r>
                    </a:p>
                  </a:txBody>
                  <a:tcPr marL="91440" marR="91440" anchor="ctr">
                    <a:solidFill>
                      <a:srgbClr val="FFFFFF"/>
                    </a:solidFill>
                  </a:tcPr>
                </a:tc>
                <a:tc>
                  <a:txBody>
                    <a:bodyPr wrap="square"/>
                    <a:lstStyle/>
                    <a:p>
                      <a:pPr algn="l">
                        <a:spcAft>
                          <a:spcPts val="0"/>
                        </a:spcAft>
                      </a:pPr>
                      <a:r>
                        <a:rPr sz="1400" b="0">
                          <a:solidFill>
                            <a:srgbClr val="222222"/>
                          </a:solidFill>
                          <a:latin typeface="Yu Gothic"/>
                          <a:ea typeface="Yu Gothic"/>
                          <a:cs typeface="Yu Gothic"/>
                        </a:rPr>
                        <a:t>司会AIが発言順を動的に決める</a:t>
                      </a:r>
                    </a:p>
                  </a:txBody>
                  <a:tcPr marL="91440" marR="91440" anchor="ctr">
                    <a:solidFill>
                      <a:srgbClr val="FFFFFF"/>
                    </a:solidFill>
                  </a:tcPr>
                </a:tc>
                <a:tc>
                  <a:txBody>
                    <a:bodyPr wrap="square"/>
                    <a:lstStyle/>
                    <a:p>
                      <a:pPr algn="l">
                        <a:spcAft>
                          <a:spcPts val="0"/>
                        </a:spcAft>
                      </a:pPr>
                      <a:r>
                        <a:rPr sz="1400" b="0">
                          <a:solidFill>
                            <a:srgbClr val="222222"/>
                          </a:solidFill>
                          <a:latin typeface="Yu Gothic"/>
                          <a:ea typeface="Yu Gothic"/>
                          <a:cs typeface="Yu Gothic"/>
                        </a:rPr>
                        <a:t>次の課題</a:t>
                      </a:r>
                    </a:p>
                  </a:txBody>
                  <a:tcPr marL="91440" marR="91440" anchor="ctr">
                    <a:solidFill>
                      <a:srgbClr val="FFFFFF"/>
                    </a:solidFill>
                  </a:tcPr>
                </a:tc>
              </a:tr>
            </a:tbl>
          </a:graphicData>
        </a:graphic>
      </p:graphicFrame>
      <p:sp>
        <p:nvSpPr>
          <p:cNvPr id="7" name="Rounded Rectangle 6"/>
          <p:cNvSpPr/>
          <p:nvPr/>
        </p:nvSpPr>
        <p:spPr>
          <a:xfrm>
            <a:off x="7040880" y="3931920"/>
            <a:ext cx="4480560" cy="137160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2000" b="1">
                <a:solidFill>
                  <a:srgbClr val="0E7C86"/>
                </a:solidFill>
                <a:latin typeface="Yu Gothic"/>
                <a:ea typeface="Yu Gothic"/>
                <a:cs typeface="Yu Gothic"/>
              </a:rPr>
              <a:t>段階Cへの備え</a:t>
            </a:r>
          </a:p>
          <a:p>
            <a:pPr algn="l">
              <a:spcAft>
                <a:spcPts val="500"/>
              </a:spcAft>
            </a:pPr>
            <a:r>
              <a:rPr sz="1400" b="0">
                <a:solidFill>
                  <a:srgbClr val="222222"/>
                </a:solidFill>
                <a:latin typeface="Yu Gothic"/>
                <a:ea typeface="Yu Gothic"/>
                <a:cs typeface="Yu Gothic"/>
              </a:rPr>
              <a:t>発言順を「決める処理」と「実行する処理」を</a:t>
            </a:r>
          </a:p>
          <a:p>
            <a:pPr algn="l">
              <a:spcAft>
                <a:spcPts val="500"/>
              </a:spcAft>
            </a:pPr>
            <a:r>
              <a:rPr sz="1400" b="0">
                <a:solidFill>
                  <a:srgbClr val="222222"/>
                </a:solidFill>
                <a:latin typeface="Yu Gothic"/>
                <a:ea typeface="Yu Gothic"/>
                <a:cs typeface="Yu Gothic"/>
              </a:rPr>
              <a:t>分けて実装した。司会AIの導入時は、</a:t>
            </a:r>
          </a:p>
          <a:p>
            <a:pPr algn="l">
              <a:spcAft>
                <a:spcPts val="500"/>
              </a:spcAft>
            </a:pPr>
            <a:r>
              <a:rPr sz="1400" b="0">
                <a:solidFill>
                  <a:srgbClr val="222222"/>
                </a:solidFill>
                <a:latin typeface="Yu Gothic"/>
                <a:ea typeface="Yu Gothic"/>
                <a:cs typeface="Yu Gothic"/>
              </a:rPr>
              <a:t>決める部分だけを差し替えれば済む。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a:lstStyle/>
          <a:p>
            <a:pPr algn="l">
              <a:spcAft>
                <a:spcPts val="600"/>
              </a:spcAft>
            </a:pPr>
            <a:r>
              <a:rPr sz="3000" b="1">
                <a:solidFill>
                  <a:srgbClr val="FFFFFF"/>
                </a:solidFill>
                <a:latin typeface="Yu Gothic"/>
                <a:ea typeface="Yu Gothic"/>
                <a:cs typeface="Yu Gothic"/>
              </a:rPr>
              <a:t>動作映像　複数AIの会話</a:t>
            </a:r>
          </a:p>
        </p:txBody>
      </p:sp>
      <p:sp>
        <p:nvSpPr>
          <p:cNvPr id="3" name="TextBox 2"/>
          <p:cNvSpPr txBox="1"/>
          <p:nvPr/>
        </p:nvSpPr>
        <p:spPr>
          <a:xfrm>
            <a:off x="11277295" y="6355080"/>
            <a:ext cx="640080" cy="365760"/>
          </a:xfrm>
          <a:prstGeom prst="rect">
            <a:avLst/>
          </a:prstGeom>
          <a:noFill/>
        </p:spPr>
        <p:txBody>
          <a:bodyPr wrap="square" anchor="t">
            <a:spAutoFit/>
          </a:bodyPr>
          <a:lstStyle/>
          <a:p>
            <a:pPr algn="r">
              <a:spcAft>
                <a:spcPts val="600"/>
              </a:spcAft>
            </a:pPr>
            <a:r>
              <a:rPr sz="1400" b="0">
                <a:solidFill>
                  <a:srgbClr val="595A5C"/>
                </a:solidFill>
                <a:latin typeface="Yu Gothic"/>
                <a:ea typeface="Yu Gothic"/>
                <a:cs typeface="Yu Gothic"/>
              </a:rPr>
              <a:t>8</a:t>
            </a:r>
          </a:p>
        </p:txBody>
      </p:sp>
      <p:sp>
        <p:nvSpPr>
          <p:cNvPr id="4" name="Rectangle 3"/>
          <p:cNvSpPr/>
          <p:nvPr/>
        </p:nvSpPr>
        <p:spPr>
          <a:xfrm>
            <a:off x="548640" y="1143000"/>
            <a:ext cx="6583680" cy="3931920"/>
          </a:xfrm>
          <a:prstGeom prst="rect">
            <a:avLst/>
          </a:prstGeom>
          <a:solidFill>
            <a:srgbClr val="2B2B2B"/>
          </a:solidFill>
          <a:ln w="31750">
            <a:solidFill>
              <a:srgbClr val="C0392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2600" b="1">
                <a:solidFill>
                  <a:srgbClr val="FFFFFF"/>
                </a:solidFill>
                <a:latin typeface="Yu Gothic"/>
                <a:ea typeface="Yu Gothic"/>
                <a:cs typeface="Yu Gothic"/>
              </a:rPr>
              <a:t>▶  ここに動画を挿入</a:t>
            </a:r>
          </a:p>
          <a:p>
            <a:pPr algn="ctr">
              <a:spcAft>
                <a:spcPts val="600"/>
              </a:spcAft>
            </a:pPr>
            <a:r>
              <a:rPr sz="1400" b="0">
                <a:solidFill>
                  <a:srgbClr val="DDDDDD"/>
                </a:solidFill>
                <a:latin typeface="Yu Gothic"/>
                <a:ea typeface="Yu Gothic"/>
                <a:cs typeface="Yu Gothic"/>
              </a:rPr>
              <a:t>挿入 → ビデオ → このデバイス（埋め込み）</a:t>
            </a:r>
          </a:p>
          <a:p>
            <a:pPr algn="ctr">
              <a:spcAft>
                <a:spcPts val="600"/>
              </a:spcAft>
            </a:pPr>
            <a:r>
              <a:rPr sz="1200" b="0">
                <a:solidFill>
                  <a:srgbClr val="AAAAAA"/>
                </a:solidFill>
                <a:latin typeface="Yu Gothic"/>
                <a:ea typeface="Yu Gothic"/>
                <a:cs typeface="Yu Gothic"/>
              </a:rPr>
              <a:t>挿入 → ビデオ → このデバイス（埋め込み） / 再生タブ → 開始「自動」</a:t>
            </a:r>
          </a:p>
        </p:txBody>
      </p:sp>
      <p:sp>
        <p:nvSpPr>
          <p:cNvPr id="5" name="TextBox 4"/>
          <p:cNvSpPr txBox="1"/>
          <p:nvPr/>
        </p:nvSpPr>
        <p:spPr>
          <a:xfrm>
            <a:off x="548640" y="5212080"/>
            <a:ext cx="6583680" cy="1188720"/>
          </a:xfrm>
          <a:prstGeom prst="rect">
            <a:avLst/>
          </a:prstGeom>
          <a:noFill/>
        </p:spPr>
        <p:txBody>
          <a:bodyPr wrap="square" anchor="t">
            <a:spAutoFit/>
          </a:bodyPr>
          <a:lstStyle/>
          <a:p>
            <a:pPr algn="l">
              <a:spcAft>
                <a:spcPts val="600"/>
              </a:spcAft>
            </a:pPr>
            <a:r>
              <a:rPr sz="1500" b="1">
                <a:solidFill>
                  <a:srgbClr val="595A5C"/>
                </a:solidFill>
                <a:latin typeface="Yu Gothic"/>
                <a:ea typeface="Yu Gothic"/>
                <a:cs typeface="Yu Gothic"/>
              </a:rPr>
              <a:t>入力（LabVIEWから1回送信するだけ）</a:t>
            </a:r>
          </a:p>
          <a:p>
            <a:pPr algn="l">
              <a:spcAft>
                <a:spcPts val="600"/>
              </a:spcAft>
            </a:pPr>
            <a:r>
              <a:rPr sz="1600" b="0">
                <a:solidFill>
                  <a:srgbClr val="222222"/>
                </a:solidFill>
                <a:latin typeface="Yu Gothic"/>
                <a:ea typeface="Yu Gothic"/>
                <a:cs typeface="Yu Gothic"/>
              </a:rPr>
              <a:t>「リハビリのトレーニングを終えました。指が少し動きやすくなった気がします。」</a:t>
            </a:r>
          </a:p>
        </p:txBody>
      </p:sp>
      <p:graphicFrame>
        <p:nvGraphicFramePr>
          <p:cNvPr id="6" name="Table 5"/>
          <p:cNvGraphicFramePr>
            <a:graphicFrameLocks noGrp="1"/>
          </p:cNvGraphicFramePr>
          <p:nvPr/>
        </p:nvGraphicFramePr>
        <p:xfrm>
          <a:off x="7406640" y="1325880"/>
          <a:ext cx="4206239" cy="2990088"/>
        </p:xfrm>
        <a:graphic>
          <a:graphicData uri="http://schemas.openxmlformats.org/drawingml/2006/table">
            <a:tbl>
              <a:tblPr firstRow="1" bandRow="1">
                <a:tableStyleId>{5C22544A-7EE6-4342-B048-85BDC9FD1C3A}</a:tableStyleId>
              </a:tblPr>
              <a:tblGrid>
                <a:gridCol w="359069"/>
                <a:gridCol w="769434"/>
                <a:gridCol w="3077736"/>
              </a:tblGrid>
              <a:tr h="384048">
                <a:tc>
                  <a:txBody>
                    <a:bodyPr wrap="square"/>
                    <a:lstStyle/>
                    <a:p>
                      <a:pPr algn="l">
                        <a:spcAft>
                          <a:spcPts val="0"/>
                        </a:spcAft>
                      </a:pPr>
                      <a:r>
                        <a:rPr sz="1400" b="1">
                          <a:solidFill>
                            <a:srgbClr val="FFFFFF"/>
                          </a:solidFill>
                          <a:latin typeface="Yu Gothic"/>
                          <a:ea typeface="Yu Gothic"/>
                          <a:cs typeface="Yu Gothic"/>
                        </a:rPr>
                        <a:t>順</a:t>
                      </a:r>
                    </a:p>
                  </a:txBody>
                  <a:tcPr marL="91440" marR="91440" anchor="ctr">
                    <a:solidFill>
                      <a:srgbClr val="1F3A5F"/>
                    </a:solidFill>
                  </a:tcPr>
                </a:tc>
                <a:tc>
                  <a:txBody>
                    <a:bodyPr wrap="square"/>
                    <a:lstStyle/>
                    <a:p>
                      <a:pPr algn="l">
                        <a:spcAft>
                          <a:spcPts val="0"/>
                        </a:spcAft>
                      </a:pPr>
                      <a:r>
                        <a:rPr sz="1400" b="1">
                          <a:solidFill>
                            <a:srgbClr val="FFFFFF"/>
                          </a:solidFill>
                          <a:latin typeface="Yu Gothic"/>
                          <a:ea typeface="Yu Gothic"/>
                          <a:cs typeface="Yu Gothic"/>
                        </a:rPr>
                        <a:t>AI</a:t>
                      </a:r>
                    </a:p>
                  </a:txBody>
                  <a:tcPr marL="91440" marR="91440" anchor="ctr">
                    <a:solidFill>
                      <a:srgbClr val="1F3A5F"/>
                    </a:solidFill>
                  </a:tcPr>
                </a:tc>
                <a:tc>
                  <a:txBody>
                    <a:bodyPr wrap="square"/>
                    <a:lstStyle/>
                    <a:p>
                      <a:pPr algn="l">
                        <a:spcAft>
                          <a:spcPts val="0"/>
                        </a:spcAft>
                      </a:pPr>
                      <a:r>
                        <a:rPr sz="1400" b="1">
                          <a:solidFill>
                            <a:srgbClr val="FFFFFF"/>
                          </a:solidFill>
                          <a:latin typeface="Yu Gothic"/>
                          <a:ea typeface="Yu Gothic"/>
                          <a:cs typeface="Yu Gothic"/>
                        </a:rPr>
                        <a:t>発言の要旨</a:t>
                      </a:r>
                    </a:p>
                  </a:txBody>
                  <a:tcPr marL="91440" marR="91440" anchor="ctr">
                    <a:solidFill>
                      <a:srgbClr val="1F3A5F"/>
                    </a:solidFill>
                  </a:tcPr>
                </a:tc>
              </a:tr>
              <a:tr h="868680">
                <a:tc>
                  <a:txBody>
                    <a:bodyPr wrap="square"/>
                    <a:lstStyle/>
                    <a:p>
                      <a:pPr algn="l">
                        <a:spcAft>
                          <a:spcPts val="0"/>
                        </a:spcAft>
                      </a:pPr>
                      <a:r>
                        <a:rPr sz="1300" b="0">
                          <a:solidFill>
                            <a:srgbClr val="222222"/>
                          </a:solidFill>
                          <a:latin typeface="Yu Gothic"/>
                          <a:ea typeface="Yu Gothic"/>
                          <a:cs typeface="Yu Gothic"/>
                        </a:rPr>
                        <a:t>1</a:t>
                      </a:r>
                    </a:p>
                  </a:txBody>
                  <a:tcPr marL="91440" marR="91440" anchor="ctr">
                    <a:solidFill>
                      <a:srgbClr val="FFFFFF"/>
                    </a:solidFill>
                  </a:tcPr>
                </a:tc>
                <a:tc>
                  <a:txBody>
                    <a:bodyPr wrap="square"/>
                    <a:lstStyle/>
                    <a:p>
                      <a:pPr algn="l">
                        <a:spcAft>
                          <a:spcPts val="0"/>
                        </a:spcAft>
                      </a:pPr>
                      <a:r>
                        <a:rPr sz="1300" b="0">
                          <a:solidFill>
                            <a:srgbClr val="222222"/>
                          </a:solidFill>
                          <a:latin typeface="Yu Gothic"/>
                          <a:ea typeface="Yu Gothic"/>
                          <a:cs typeface="Yu Gothic"/>
                        </a:rPr>
                        <a:t>Alpha</a:t>
                      </a:r>
                    </a:p>
                  </a:txBody>
                  <a:tcPr marL="91440" marR="91440" anchor="ctr">
                    <a:solidFill>
                      <a:srgbClr val="FFFFFF"/>
                    </a:solidFill>
                  </a:tcPr>
                </a:tc>
                <a:tc>
                  <a:txBody>
                    <a:bodyPr wrap="square"/>
                    <a:lstStyle/>
                    <a:p>
                      <a:pPr algn="l">
                        <a:spcAft>
                          <a:spcPts val="0"/>
                        </a:spcAft>
                      </a:pPr>
                      <a:r>
                        <a:rPr sz="1300" b="0">
                          <a:solidFill>
                            <a:srgbClr val="222222"/>
                          </a:solidFill>
                          <a:latin typeface="Yu Gothic"/>
                          <a:ea typeface="Yu Gothic"/>
                          <a:cs typeface="Yu Gothic"/>
                        </a:rPr>
                        <a:t>改善が見られるのは励みになる。特に効果を感じたトレーニングはあったかと聞き返す</a:t>
                      </a:r>
                    </a:p>
                  </a:txBody>
                  <a:tcPr marL="91440" marR="91440" anchor="ctr">
                    <a:solidFill>
                      <a:srgbClr val="FFFFFF"/>
                    </a:solidFill>
                  </a:tcPr>
                </a:tc>
              </a:tr>
              <a:tr h="868680">
                <a:tc>
                  <a:txBody>
                    <a:bodyPr wrap="square"/>
                    <a:lstStyle/>
                    <a:p>
                      <a:pPr algn="l">
                        <a:spcAft>
                          <a:spcPts val="0"/>
                        </a:spcAft>
                      </a:pPr>
                      <a:r>
                        <a:rPr sz="1300" b="1">
                          <a:solidFill>
                            <a:srgbClr val="C0392B"/>
                          </a:solidFill>
                          <a:latin typeface="Yu Gothic"/>
                          <a:ea typeface="Yu Gothic"/>
                          <a:cs typeface="Yu Gothic"/>
                        </a:rPr>
                        <a:t>2</a:t>
                      </a:r>
                    </a:p>
                  </a:txBody>
                  <a:tcPr marL="91440" marR="91440" anchor="ctr">
                    <a:solidFill>
                      <a:srgbClr val="FDECEA"/>
                    </a:solidFill>
                  </a:tcPr>
                </a:tc>
                <a:tc>
                  <a:txBody>
                    <a:bodyPr wrap="square"/>
                    <a:lstStyle/>
                    <a:p>
                      <a:pPr algn="l">
                        <a:spcAft>
                          <a:spcPts val="0"/>
                        </a:spcAft>
                      </a:pPr>
                      <a:r>
                        <a:rPr sz="1300" b="1">
                          <a:solidFill>
                            <a:srgbClr val="C0392B"/>
                          </a:solidFill>
                          <a:latin typeface="Yu Gothic"/>
                          <a:ea typeface="Yu Gothic"/>
                          <a:cs typeface="Yu Gothic"/>
                        </a:rPr>
                        <a:t>Beta</a:t>
                      </a:r>
                    </a:p>
                  </a:txBody>
                  <a:tcPr marL="91440" marR="91440" anchor="ctr">
                    <a:solidFill>
                      <a:srgbClr val="FDECEA"/>
                    </a:solidFill>
                  </a:tcPr>
                </a:tc>
                <a:tc>
                  <a:txBody>
                    <a:bodyPr wrap="square"/>
                    <a:lstStyle/>
                    <a:p>
                      <a:pPr algn="l">
                        <a:spcAft>
                          <a:spcPts val="0"/>
                        </a:spcAft>
                      </a:pPr>
                      <a:r>
                        <a:rPr sz="1300" b="1">
                          <a:solidFill>
                            <a:srgbClr val="C0392B"/>
                          </a:solidFill>
                          <a:latin typeface="Yu Gothic"/>
                          <a:ea typeface="Yu Gothic"/>
                          <a:cs typeface="Yu Gothic"/>
                        </a:rPr>
                        <a:t>継続的な取り組みと適切なフィードバックが必要。共有し合える環境を整えることも大切</a:t>
                      </a:r>
                    </a:p>
                  </a:txBody>
                  <a:tcPr marL="91440" marR="91440" anchor="ctr">
                    <a:solidFill>
                      <a:srgbClr val="FDECEA"/>
                    </a:solidFill>
                  </a:tcPr>
                </a:tc>
              </a:tr>
              <a:tr h="868680">
                <a:tc>
                  <a:txBody>
                    <a:bodyPr wrap="square"/>
                    <a:lstStyle/>
                    <a:p>
                      <a:pPr algn="l">
                        <a:spcAft>
                          <a:spcPts val="0"/>
                        </a:spcAft>
                      </a:pPr>
                      <a:r>
                        <a:rPr sz="1300" b="0">
                          <a:solidFill>
                            <a:srgbClr val="222222"/>
                          </a:solidFill>
                          <a:latin typeface="Yu Gothic"/>
                          <a:ea typeface="Yu Gothic"/>
                          <a:cs typeface="Yu Gothic"/>
                        </a:rPr>
                        <a:t>3</a:t>
                      </a:r>
                    </a:p>
                  </a:txBody>
                  <a:tcPr marL="91440" marR="91440" anchor="ctr">
                    <a:solidFill>
                      <a:srgbClr val="FFFFFF"/>
                    </a:solidFill>
                  </a:tcPr>
                </a:tc>
                <a:tc>
                  <a:txBody>
                    <a:bodyPr wrap="square"/>
                    <a:lstStyle/>
                    <a:p>
                      <a:pPr algn="l">
                        <a:spcAft>
                          <a:spcPts val="0"/>
                        </a:spcAft>
                      </a:pPr>
                      <a:r>
                        <a:rPr sz="1300" b="0">
                          <a:solidFill>
                            <a:srgbClr val="222222"/>
                          </a:solidFill>
                          <a:latin typeface="Yu Gothic"/>
                          <a:ea typeface="Yu Gothic"/>
                          <a:cs typeface="Yu Gothic"/>
                        </a:rPr>
                        <a:t>Gamma</a:t>
                      </a:r>
                    </a:p>
                  </a:txBody>
                  <a:tcPr marL="91440" marR="91440" anchor="ctr">
                    <a:solidFill>
                      <a:srgbClr val="FFFFFF"/>
                    </a:solidFill>
                  </a:tcPr>
                </a:tc>
                <a:tc>
                  <a:txBody>
                    <a:bodyPr wrap="square"/>
                    <a:lstStyle/>
                    <a:p>
                      <a:pPr algn="l">
                        <a:spcAft>
                          <a:spcPts val="0"/>
                        </a:spcAft>
                      </a:pPr>
                      <a:r>
                        <a:rPr sz="1300" b="0">
                          <a:solidFill>
                            <a:srgbClr val="222222"/>
                          </a:solidFill>
                          <a:latin typeface="Yu Gothic"/>
                          <a:ea typeface="Yu Gothic"/>
                          <a:cs typeface="Yu Gothic"/>
                        </a:rPr>
                        <a:t>具体的な目標を設定すると効果を引き出せる。日常生活で指を使う作業への挑戦を提案</a:t>
                      </a:r>
                    </a:p>
                  </a:txBody>
                  <a:tcPr marL="91440" marR="91440" anchor="ctr">
                    <a:solidFill>
                      <a:srgbClr val="FFFFFF"/>
                    </a:solidFill>
                  </a:tcPr>
                </a:tc>
              </a:tr>
            </a:tbl>
          </a:graphicData>
        </a:graphic>
      </p:graphicFrame>
      <p:sp>
        <p:nvSpPr>
          <p:cNvPr id="7" name="Rounded Rectangle 6"/>
          <p:cNvSpPr/>
          <p:nvPr/>
        </p:nvSpPr>
        <p:spPr>
          <a:xfrm>
            <a:off x="7406640" y="4572000"/>
            <a:ext cx="4206240" cy="1737360"/>
          </a:xfrm>
          <a:prstGeom prst="roundRect">
            <a:avLst/>
          </a:prstGeom>
          <a:solidFill>
            <a:srgbClr val="EFF3F7"/>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800" b="1">
                <a:solidFill>
                  <a:srgbClr val="C0392B"/>
                </a:solidFill>
                <a:latin typeface="Yu Gothic"/>
                <a:ea typeface="Yu Gothic"/>
                <a:cs typeface="Yu Gothic"/>
              </a:rPr>
              <a:t>注目点</a:t>
            </a:r>
          </a:p>
          <a:p>
            <a:pPr algn="l">
              <a:spcAft>
                <a:spcPts val="500"/>
              </a:spcAft>
            </a:pPr>
            <a:r>
              <a:rPr sz="1400" b="0">
                <a:solidFill>
                  <a:srgbClr val="222222"/>
                </a:solidFill>
                <a:latin typeface="Yu Gothic"/>
                <a:ea typeface="Yu Gothic"/>
                <a:cs typeface="Yu Gothic"/>
              </a:rPr>
              <a:t>1体目は問い返し、2体目は条件を補い、</a:t>
            </a:r>
          </a:p>
          <a:p>
            <a:pPr algn="l">
              <a:spcAft>
                <a:spcPts val="500"/>
              </a:spcAft>
            </a:pPr>
            <a:r>
              <a:rPr sz="1400" b="0">
                <a:solidFill>
                  <a:srgbClr val="222222"/>
                </a:solidFill>
                <a:latin typeface="Yu Gothic"/>
                <a:ea typeface="Yu Gothic"/>
                <a:cs typeface="Yu Gothic"/>
              </a:rPr>
              <a:t>3体目は次の行動へ広げている。</a:t>
            </a:r>
          </a:p>
          <a:p>
            <a:pPr algn="l">
              <a:spcAft>
                <a:spcPts val="500"/>
              </a:spcAft>
            </a:pPr>
            <a:r>
              <a:rPr sz="1400" b="0">
                <a:solidFill>
                  <a:srgbClr val="222222"/>
                </a:solidFill>
                <a:latin typeface="Yu Gothic"/>
                <a:ea typeface="Yu Gothic"/>
                <a:cs typeface="Yu Gothic"/>
              </a:rPr>
              <a:t>前の発言を読んだうえで話すため重複しない。</a:t>
            </a:r>
          </a:p>
          <a:p>
            <a:pPr algn="l">
              <a:spcAft>
                <a:spcPts val="500"/>
              </a:spcAft>
            </a:pPr>
            <a:r>
              <a:rPr sz="1400" b="0">
                <a:solidFill>
                  <a:srgbClr val="222222"/>
                </a:solidFill>
                <a:latin typeface="Yu Gothic"/>
                <a:ea typeface="Yu Gothic"/>
                <a:cs typeface="Yu Gothic"/>
              </a:rPr>
              <a:t>※ この3体構成は比較条件の一つ（条件B）。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a:lstStyle/>
          <a:p>
            <a:pPr algn="l">
              <a:spcAft>
                <a:spcPts val="600"/>
              </a:spcAft>
            </a:pPr>
            <a:r>
              <a:rPr sz="3000" b="1">
                <a:solidFill>
                  <a:srgbClr val="FFFFFF"/>
                </a:solidFill>
                <a:latin typeface="Yu Gothic"/>
                <a:ea typeface="Yu Gothic"/>
                <a:cs typeface="Yu Gothic"/>
              </a:rPr>
              <a:t>定量評価 ― 応答時間</a:t>
            </a:r>
          </a:p>
        </p:txBody>
      </p:sp>
      <p:sp>
        <p:nvSpPr>
          <p:cNvPr id="3" name="TextBox 2"/>
          <p:cNvSpPr txBox="1"/>
          <p:nvPr/>
        </p:nvSpPr>
        <p:spPr>
          <a:xfrm>
            <a:off x="11277295" y="6355080"/>
            <a:ext cx="640080" cy="365760"/>
          </a:xfrm>
          <a:prstGeom prst="rect">
            <a:avLst/>
          </a:prstGeom>
          <a:noFill/>
        </p:spPr>
        <p:txBody>
          <a:bodyPr wrap="square" anchor="t">
            <a:spAutoFit/>
          </a:bodyPr>
          <a:lstStyle/>
          <a:p>
            <a:pPr algn="r">
              <a:spcAft>
                <a:spcPts val="600"/>
              </a:spcAft>
            </a:pPr>
            <a:r>
              <a:rPr sz="1400" b="0">
                <a:solidFill>
                  <a:srgbClr val="595A5C"/>
                </a:solidFill>
                <a:latin typeface="Yu Gothic"/>
                <a:ea typeface="Yu Gothic"/>
                <a:cs typeface="Yu Gothic"/>
              </a:rPr>
              <a:t>9</a:t>
            </a:r>
          </a:p>
        </p:txBody>
      </p:sp>
      <p:graphicFrame>
        <p:nvGraphicFramePr>
          <p:cNvPr id="4" name="Table 3"/>
          <p:cNvGraphicFramePr>
            <a:graphicFrameLocks noGrp="1"/>
          </p:cNvGraphicFramePr>
          <p:nvPr/>
        </p:nvGraphicFramePr>
        <p:xfrm>
          <a:off x="731520" y="1188720"/>
          <a:ext cx="10698480" cy="2514600"/>
        </p:xfrm>
        <a:graphic>
          <a:graphicData uri="http://schemas.openxmlformats.org/drawingml/2006/table">
            <a:tbl>
              <a:tblPr firstRow="1" bandRow="1">
                <a:tableStyleId>{5C22544A-7EE6-4342-B048-85BDC9FD1C3A}</a:tableStyleId>
              </a:tblPr>
              <a:tblGrid>
                <a:gridCol w="2228850"/>
                <a:gridCol w="3120390"/>
                <a:gridCol w="5349240"/>
              </a:tblGrid>
              <a:tr h="457200">
                <a:tc>
                  <a:txBody>
                    <a:bodyPr wrap="square"/>
                    <a:lstStyle/>
                    <a:p>
                      <a:pPr algn="l">
                        <a:spcAft>
                          <a:spcPts val="0"/>
                        </a:spcAft>
                      </a:pPr>
                      <a:r>
                        <a:rPr sz="1700" b="1">
                          <a:solidFill>
                            <a:srgbClr val="FFFFFF"/>
                          </a:solidFill>
                          <a:latin typeface="Yu Gothic"/>
                          <a:ea typeface="Yu Gothic"/>
                          <a:cs typeface="Yu Gothic"/>
                        </a:rPr>
                        <a:t>条件</a:t>
                      </a:r>
                    </a:p>
                  </a:txBody>
                  <a:tcPr marL="91440" marR="91440" anchor="ctr">
                    <a:solidFill>
                      <a:srgbClr val="1F3A5F"/>
                    </a:solidFill>
                  </a:tcPr>
                </a:tc>
                <a:tc>
                  <a:txBody>
                    <a:bodyPr wrap="square"/>
                    <a:lstStyle/>
                    <a:p>
                      <a:pPr algn="l">
                        <a:spcAft>
                          <a:spcPts val="0"/>
                        </a:spcAft>
                      </a:pPr>
                      <a:r>
                        <a:rPr sz="1700" b="1">
                          <a:solidFill>
                            <a:srgbClr val="FFFFFF"/>
                          </a:solidFill>
                          <a:latin typeface="Yu Gothic"/>
                          <a:ea typeface="Yu Gothic"/>
                          <a:cs typeface="Yu Gothic"/>
                        </a:rPr>
                        <a:t>応答時間</a:t>
                      </a:r>
                    </a:p>
                  </a:txBody>
                  <a:tcPr marL="91440" marR="91440" anchor="ctr">
                    <a:solidFill>
                      <a:srgbClr val="1F3A5F"/>
                    </a:solidFill>
                  </a:tcPr>
                </a:tc>
                <a:tc>
                  <a:txBody>
                    <a:bodyPr wrap="square"/>
                    <a:lstStyle/>
                    <a:p>
                      <a:pPr algn="l">
                        <a:spcAft>
                          <a:spcPts val="0"/>
                        </a:spcAft>
                      </a:pPr>
                      <a:r>
                        <a:rPr sz="1700" b="1">
                          <a:solidFill>
                            <a:srgbClr val="FFFFFF"/>
                          </a:solidFill>
                          <a:latin typeface="Yu Gothic"/>
                          <a:ea typeface="Yu Gothic"/>
                          <a:cs typeface="Yu Gothic"/>
                        </a:rPr>
                        <a:t>内訳</a:t>
                      </a:r>
                    </a:p>
                  </a:txBody>
                  <a:tcPr marL="91440" marR="91440" anchor="ctr">
                    <a:solidFill>
                      <a:srgbClr val="1F3A5F"/>
                    </a:solidFill>
                  </a:tcPr>
                </a:tc>
              </a:tr>
              <a:tr h="685800">
                <a:tc>
                  <a:txBody>
                    <a:bodyPr wrap="square"/>
                    <a:lstStyle/>
                    <a:p>
                      <a:pPr algn="l">
                        <a:spcAft>
                          <a:spcPts val="0"/>
                        </a:spcAft>
                      </a:pPr>
                      <a:r>
                        <a:rPr sz="1700" b="0">
                          <a:solidFill>
                            <a:srgbClr val="222222"/>
                          </a:solidFill>
                          <a:latin typeface="Yu Gothic"/>
                          <a:ea typeface="Yu Gothic"/>
                          <a:cs typeface="Yu Gothic"/>
                        </a:rPr>
                        <a:t>AI 1体</a:t>
                      </a:r>
                    </a:p>
                  </a:txBody>
                  <a:tcPr marL="91440" marR="91440" anchor="ctr">
                    <a:solidFill>
                      <a:srgbClr val="FFFFFF"/>
                    </a:solidFill>
                  </a:tcPr>
                </a:tc>
                <a:tc>
                  <a:txBody>
                    <a:bodyPr wrap="square"/>
                    <a:lstStyle/>
                    <a:p>
                      <a:pPr algn="l">
                        <a:spcAft>
                          <a:spcPts val="0"/>
                        </a:spcAft>
                      </a:pPr>
                      <a:r>
                        <a:rPr sz="1700" b="0">
                          <a:solidFill>
                            <a:srgbClr val="222222"/>
                          </a:solidFill>
                          <a:latin typeface="Yu Gothic"/>
                          <a:ea typeface="Yu Gothic"/>
                          <a:cs typeface="Yu Gothic"/>
                        </a:rPr>
                        <a:t>約 1.2 〜 2.6 秒</a:t>
                      </a:r>
                    </a:p>
                  </a:txBody>
                  <a:tcPr marL="91440" marR="91440" anchor="ctr">
                    <a:solidFill>
                      <a:srgbClr val="FFFFFF"/>
                    </a:solidFill>
                  </a:tcPr>
                </a:tc>
                <a:tc>
                  <a:txBody>
                    <a:bodyPr wrap="square"/>
                    <a:lstStyle/>
                    <a:p>
                      <a:pPr algn="l">
                        <a:spcAft>
                          <a:spcPts val="0"/>
                        </a:spcAft>
                      </a:pPr>
                      <a:r>
                        <a:rPr sz="1700" b="0">
                          <a:solidFill>
                            <a:srgbClr val="222222"/>
                          </a:solidFill>
                          <a:latin typeface="Yu Gothic"/>
                          <a:ea typeface="Yu Gothic"/>
                          <a:cs typeface="Yu Gothic"/>
                        </a:rPr>
                        <a:t>サーバー処理 数ms ＋ LLM応答待ち</a:t>
                      </a:r>
                    </a:p>
                  </a:txBody>
                  <a:tcPr marL="91440" marR="91440" anchor="ctr">
                    <a:solidFill>
                      <a:srgbClr val="FFFFFF"/>
                    </a:solidFill>
                  </a:tcPr>
                </a:tc>
              </a:tr>
              <a:tr h="685800">
                <a:tc>
                  <a:txBody>
                    <a:bodyPr wrap="square"/>
                    <a:lstStyle/>
                    <a:p>
                      <a:pPr algn="l">
                        <a:spcAft>
                          <a:spcPts val="0"/>
                        </a:spcAft>
                      </a:pPr>
                      <a:r>
                        <a:rPr sz="1700" b="0">
                          <a:solidFill>
                            <a:srgbClr val="222222"/>
                          </a:solidFill>
                          <a:latin typeface="Yu Gothic"/>
                          <a:ea typeface="Yu Gothic"/>
                          <a:cs typeface="Yu Gothic"/>
                        </a:rPr>
                        <a:t>AI 2体</a:t>
                      </a:r>
                    </a:p>
                  </a:txBody>
                  <a:tcPr marL="91440" marR="91440" anchor="ctr">
                    <a:solidFill>
                      <a:srgbClr val="EFF3F7"/>
                    </a:solidFill>
                  </a:tcPr>
                </a:tc>
                <a:tc>
                  <a:txBody>
                    <a:bodyPr wrap="square"/>
                    <a:lstStyle/>
                    <a:p>
                      <a:pPr algn="l">
                        <a:spcAft>
                          <a:spcPts val="0"/>
                        </a:spcAft>
                      </a:pPr>
                      <a:r>
                        <a:rPr sz="1700" b="0">
                          <a:solidFill>
                            <a:srgbClr val="222222"/>
                          </a:solidFill>
                          <a:latin typeface="Yu Gothic"/>
                          <a:ea typeface="Yu Gothic"/>
                          <a:cs typeface="Yu Gothic"/>
                        </a:rPr>
                        <a:t>約 1.5 〜 4.7 秒</a:t>
                      </a:r>
                    </a:p>
                  </a:txBody>
                  <a:tcPr marL="91440" marR="91440" anchor="ctr">
                    <a:solidFill>
                      <a:srgbClr val="EFF3F7"/>
                    </a:solidFill>
                  </a:tcPr>
                </a:tc>
                <a:tc>
                  <a:txBody>
                    <a:bodyPr wrap="square"/>
                    <a:lstStyle/>
                    <a:p>
                      <a:pPr algn="l">
                        <a:spcAft>
                          <a:spcPts val="0"/>
                        </a:spcAft>
                      </a:pPr>
                      <a:r>
                        <a:rPr sz="1700" b="0">
                          <a:solidFill>
                            <a:srgbClr val="222222"/>
                          </a:solidFill>
                          <a:latin typeface="Yu Gothic"/>
                          <a:ea typeface="Yu Gothic"/>
                          <a:cs typeface="Yu Gothic"/>
                        </a:rPr>
                        <a:t>サーバー処理 数ms ＋ LLM応答待ち</a:t>
                      </a:r>
                    </a:p>
                  </a:txBody>
                  <a:tcPr marL="91440" marR="91440" anchor="ctr">
                    <a:solidFill>
                      <a:srgbClr val="EFF3F7"/>
                    </a:solidFill>
                  </a:tcPr>
                </a:tc>
              </a:tr>
              <a:tr h="685800">
                <a:tc>
                  <a:txBody>
                    <a:bodyPr wrap="square"/>
                    <a:lstStyle/>
                    <a:p>
                      <a:pPr algn="l">
                        <a:spcAft>
                          <a:spcPts val="0"/>
                        </a:spcAft>
                      </a:pPr>
                      <a:r>
                        <a:rPr sz="1700" b="1">
                          <a:solidFill>
                            <a:srgbClr val="C0392B"/>
                          </a:solidFill>
                          <a:latin typeface="Yu Gothic"/>
                          <a:ea typeface="Yu Gothic"/>
                          <a:cs typeface="Yu Gothic"/>
                        </a:rPr>
                        <a:t>AI 3体</a:t>
                      </a:r>
                    </a:p>
                  </a:txBody>
                  <a:tcPr marL="91440" marR="91440" anchor="ctr">
                    <a:solidFill>
                      <a:srgbClr val="FDECEA"/>
                    </a:solidFill>
                  </a:tcPr>
                </a:tc>
                <a:tc>
                  <a:txBody>
                    <a:bodyPr wrap="square"/>
                    <a:lstStyle/>
                    <a:p>
                      <a:pPr algn="l">
                        <a:spcAft>
                          <a:spcPts val="0"/>
                        </a:spcAft>
                      </a:pPr>
                      <a:r>
                        <a:rPr sz="1700" b="1">
                          <a:solidFill>
                            <a:srgbClr val="C0392B"/>
                          </a:solidFill>
                          <a:latin typeface="Yu Gothic"/>
                          <a:ea typeface="Yu Gothic"/>
                          <a:cs typeface="Yu Gothic"/>
                        </a:rPr>
                        <a:t>約 6.0 〜 6.3 秒</a:t>
                      </a:r>
                    </a:p>
                  </a:txBody>
                  <a:tcPr marL="91440" marR="91440" anchor="ctr">
                    <a:solidFill>
                      <a:srgbClr val="FDECEA"/>
                    </a:solidFill>
                  </a:tcPr>
                </a:tc>
                <a:tc>
                  <a:txBody>
                    <a:bodyPr wrap="square"/>
                    <a:lstStyle/>
                    <a:p>
                      <a:pPr algn="l">
                        <a:spcAft>
                          <a:spcPts val="0"/>
                        </a:spcAft>
                      </a:pPr>
                      <a:r>
                        <a:rPr sz="1700" b="1">
                          <a:solidFill>
                            <a:srgbClr val="C0392B"/>
                          </a:solidFill>
                          <a:latin typeface="Yu Gothic"/>
                          <a:ea typeface="Yu Gothic"/>
                          <a:cs typeface="Yu Gothic"/>
                        </a:rPr>
                        <a:t>サーバー処理 7ms ＋ LLM応答待ち（2.0 / 2.9 / 1.1 秒）</a:t>
                      </a:r>
                    </a:p>
                  </a:txBody>
                  <a:tcPr marL="91440" marR="91440" anchor="ctr">
                    <a:solidFill>
                      <a:srgbClr val="FDECEA"/>
                    </a:solidFill>
                  </a:tcPr>
                </a:tc>
              </a:tr>
            </a:tbl>
          </a:graphicData>
        </a:graphic>
      </p:graphicFrame>
      <p:sp>
        <p:nvSpPr>
          <p:cNvPr id="5" name="Rounded Rectangle 4"/>
          <p:cNvSpPr/>
          <p:nvPr/>
        </p:nvSpPr>
        <p:spPr>
          <a:xfrm>
            <a:off x="731520" y="3931920"/>
            <a:ext cx="3383280" cy="164592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700" b="1">
                <a:solidFill>
                  <a:srgbClr val="0E7C86"/>
                </a:solidFill>
                <a:latin typeface="Yu Gothic"/>
                <a:ea typeface="Yu Gothic"/>
                <a:cs typeface="Yu Gothic"/>
              </a:rPr>
              <a:t>自作部分の負荷は無視できる</a:t>
            </a:r>
          </a:p>
          <a:p>
            <a:pPr algn="l">
              <a:spcAft>
                <a:spcPts val="500"/>
              </a:spcAft>
            </a:pPr>
            <a:r>
              <a:rPr sz="1400" b="0">
                <a:solidFill>
                  <a:srgbClr val="222222"/>
                </a:solidFill>
                <a:latin typeface="Yu Gothic"/>
                <a:ea typeface="Yu Gothic"/>
                <a:cs typeface="Yu Gothic"/>
              </a:rPr>
              <a:t>遅延のほぼ全てがLLM側の応答待ち。</a:t>
            </a:r>
          </a:p>
          <a:p>
            <a:pPr algn="l">
              <a:spcAft>
                <a:spcPts val="500"/>
              </a:spcAft>
            </a:pPr>
            <a:r>
              <a:rPr sz="1400" b="0">
                <a:solidFill>
                  <a:srgbClr val="222222"/>
                </a:solidFill>
                <a:latin typeface="Yu Gothic"/>
                <a:ea typeface="Yu Gothic"/>
                <a:cs typeface="Yu Gothic"/>
              </a:rPr>
              <a:t>自作サーバーの処理は7ミリ秒。</a:t>
            </a:r>
          </a:p>
        </p:txBody>
      </p:sp>
      <p:sp>
        <p:nvSpPr>
          <p:cNvPr id="6" name="Rounded Rectangle 5"/>
          <p:cNvSpPr/>
          <p:nvPr/>
        </p:nvSpPr>
        <p:spPr>
          <a:xfrm>
            <a:off x="4389120" y="3931920"/>
            <a:ext cx="3383280" cy="164592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700" b="1">
                <a:solidFill>
                  <a:srgbClr val="0E7C86"/>
                </a:solidFill>
                <a:latin typeface="Yu Gothic"/>
                <a:ea typeface="Yu Gothic"/>
                <a:cs typeface="Yu Gothic"/>
              </a:rPr>
              <a:t>発言数にほぼ比例する</a:t>
            </a:r>
          </a:p>
          <a:p>
            <a:pPr algn="l">
              <a:spcAft>
                <a:spcPts val="500"/>
              </a:spcAft>
            </a:pPr>
            <a:r>
              <a:rPr sz="1400" b="0">
                <a:solidFill>
                  <a:srgbClr val="222222"/>
                </a:solidFill>
                <a:latin typeface="Yu Gothic"/>
                <a:ea typeface="Yu Gothic"/>
                <a:cs typeface="Yu Gothic"/>
              </a:rPr>
              <a:t>3体が最適という意味ではない。</a:t>
            </a:r>
          </a:p>
          <a:p>
            <a:pPr algn="l">
              <a:spcAft>
                <a:spcPts val="500"/>
              </a:spcAft>
            </a:pPr>
            <a:r>
              <a:rPr sz="1400" b="0">
                <a:solidFill>
                  <a:srgbClr val="222222"/>
                </a:solidFill>
                <a:latin typeface="Yu Gothic"/>
                <a:ea typeface="Yu Gothic"/>
                <a:cs typeface="Yu Gothic"/>
              </a:rPr>
              <a:t>構成ごとの応答時間を、</a:t>
            </a:r>
          </a:p>
          <a:p>
            <a:pPr algn="l">
              <a:spcAft>
                <a:spcPts val="500"/>
              </a:spcAft>
            </a:pPr>
            <a:r>
              <a:rPr sz="1400" b="0">
                <a:solidFill>
                  <a:srgbClr val="222222"/>
                </a:solidFill>
                <a:latin typeface="Yu Gothic"/>
                <a:ea typeface="Yu Gothic"/>
                <a:cs typeface="Yu Gothic"/>
              </a:rPr>
              <a:t>次の検証計画で比較材料に使う。</a:t>
            </a:r>
          </a:p>
        </p:txBody>
      </p:sp>
      <p:sp>
        <p:nvSpPr>
          <p:cNvPr id="7" name="Rounded Rectangle 6"/>
          <p:cNvSpPr/>
          <p:nvPr/>
        </p:nvSpPr>
        <p:spPr>
          <a:xfrm>
            <a:off x="8046720" y="3931920"/>
            <a:ext cx="3383280" cy="1645920"/>
          </a:xfrm>
          <a:prstGeom prst="roundRect">
            <a:avLst/>
          </a:prstGeom>
          <a:solidFill>
            <a:srgbClr val="EFF3F7"/>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700" b="1">
                <a:solidFill>
                  <a:srgbClr val="C0392B"/>
                </a:solidFill>
                <a:latin typeface="Yu Gothic"/>
                <a:ea typeface="Yu Gothic"/>
                <a:cs typeface="Yu Gothic"/>
              </a:rPr>
              <a:t>タイムアウト対策</a:t>
            </a:r>
          </a:p>
          <a:p>
            <a:pPr algn="l">
              <a:spcAft>
                <a:spcPts val="500"/>
              </a:spcAft>
            </a:pPr>
            <a:r>
              <a:rPr sz="1400" b="0">
                <a:solidFill>
                  <a:srgbClr val="222222"/>
                </a:solidFill>
                <a:latin typeface="Yu Gothic"/>
                <a:ea typeface="Yu Gothic"/>
                <a:cs typeface="Yu Gothic"/>
              </a:rPr>
              <a:t>LabVIEWの通信タイムアウトは</a:t>
            </a:r>
          </a:p>
          <a:p>
            <a:pPr algn="l">
              <a:spcAft>
                <a:spcPts val="500"/>
              </a:spcAft>
            </a:pPr>
            <a:r>
              <a:rPr sz="1400" b="0">
                <a:solidFill>
                  <a:srgbClr val="222222"/>
                </a:solidFill>
                <a:latin typeface="Yu Gothic"/>
                <a:ea typeface="Yu Gothic"/>
                <a:cs typeface="Yu Gothic"/>
              </a:rPr>
              <a:t>既定10秒のため3体では危険。</a:t>
            </a:r>
          </a:p>
          <a:p>
            <a:pPr algn="l">
              <a:spcAft>
                <a:spcPts val="500"/>
              </a:spcAft>
            </a:pPr>
            <a:r>
              <a:rPr sz="1400" b="0">
                <a:solidFill>
                  <a:srgbClr val="222222"/>
                </a:solidFill>
                <a:latin typeface="Yu Gothic"/>
                <a:ea typeface="Yu Gothic"/>
                <a:cs typeface="Yu Gothic"/>
              </a:rPr>
              <a:t>延長して対応済み。</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a:lstStyle/>
          <a:p>
            <a:pPr algn="l">
              <a:spcAft>
                <a:spcPts val="600"/>
              </a:spcAft>
            </a:pPr>
            <a:r>
              <a:rPr sz="3000" b="1">
                <a:solidFill>
                  <a:srgbClr val="FFFFFF"/>
                </a:solidFill>
                <a:latin typeface="Yu Gothic"/>
                <a:ea typeface="Yu Gothic"/>
                <a:cs typeface="Yu Gothic"/>
              </a:rPr>
              <a:t>検証計画 ― 主観情報の収集に適した対話構造の比較</a:t>
            </a:r>
          </a:p>
        </p:txBody>
      </p:sp>
      <p:sp>
        <p:nvSpPr>
          <p:cNvPr id="3" name="TextBox 2"/>
          <p:cNvSpPr txBox="1"/>
          <p:nvPr/>
        </p:nvSpPr>
        <p:spPr>
          <a:xfrm>
            <a:off x="11277295" y="6355080"/>
            <a:ext cx="640080" cy="365760"/>
          </a:xfrm>
          <a:prstGeom prst="rect">
            <a:avLst/>
          </a:prstGeom>
          <a:noFill/>
        </p:spPr>
        <p:txBody>
          <a:bodyPr wrap="square" anchor="t">
            <a:spAutoFit/>
          </a:bodyPr>
          <a:lstStyle/>
          <a:p>
            <a:pPr algn="r">
              <a:spcAft>
                <a:spcPts val="600"/>
              </a:spcAft>
            </a:pPr>
            <a:r>
              <a:rPr sz="1400" b="0">
                <a:solidFill>
                  <a:srgbClr val="595A5C"/>
                </a:solidFill>
                <a:latin typeface="Yu Gothic"/>
                <a:ea typeface="Yu Gothic"/>
                <a:cs typeface="Yu Gothic"/>
              </a:rPr>
              <a:t>10</a:t>
            </a:r>
          </a:p>
        </p:txBody>
      </p:sp>
      <p:sp>
        <p:nvSpPr>
          <p:cNvPr id="4" name="TextBox 3"/>
          <p:cNvSpPr txBox="1"/>
          <p:nvPr/>
        </p:nvSpPr>
        <p:spPr>
          <a:xfrm>
            <a:off x="640080" y="960120"/>
            <a:ext cx="10881360" cy="457200"/>
          </a:xfrm>
          <a:prstGeom prst="rect">
            <a:avLst/>
          </a:prstGeom>
          <a:noFill/>
        </p:spPr>
        <p:txBody>
          <a:bodyPr wrap="square" anchor="t">
            <a:spAutoFit/>
          </a:bodyPr>
          <a:lstStyle/>
          <a:p>
            <a:pPr algn="l">
              <a:spcAft>
                <a:spcPts val="600"/>
              </a:spcAft>
            </a:pPr>
            <a:r>
              <a:rPr sz="1700" b="0">
                <a:solidFill>
                  <a:srgbClr val="595A5C"/>
                </a:solidFill>
                <a:latin typeface="Yu Gothic"/>
                <a:ea typeface="Yu Gothic"/>
                <a:cs typeface="Yu Gothic"/>
              </a:rPr>
              <a:t>3体が最適という主張ではない。現在の構成は比較条件の一つであり、A〜Dを比較して適した構造を明らかにする。</a:t>
            </a:r>
          </a:p>
        </p:txBody>
      </p:sp>
      <p:graphicFrame>
        <p:nvGraphicFramePr>
          <p:cNvPr id="5" name="Table 4"/>
          <p:cNvGraphicFramePr>
            <a:graphicFrameLocks noGrp="1"/>
          </p:cNvGraphicFramePr>
          <p:nvPr/>
        </p:nvGraphicFramePr>
        <p:xfrm>
          <a:off x="640080" y="1554480"/>
          <a:ext cx="10881358" cy="3090672"/>
        </p:xfrm>
        <a:graphic>
          <a:graphicData uri="http://schemas.openxmlformats.org/drawingml/2006/table">
            <a:tbl>
              <a:tblPr firstRow="1" bandRow="1">
                <a:tableStyleId>{5C22544A-7EE6-4342-B048-85BDC9FD1C3A}</a:tableStyleId>
              </a:tblPr>
              <a:tblGrid>
                <a:gridCol w="922149"/>
                <a:gridCol w="2950877"/>
                <a:gridCol w="3319736"/>
                <a:gridCol w="3688596"/>
              </a:tblGrid>
              <a:tr h="457200">
                <a:tc>
                  <a:txBody>
                    <a:bodyPr wrap="square"/>
                    <a:lstStyle/>
                    <a:p>
                      <a:pPr algn="l">
                        <a:spcAft>
                          <a:spcPts val="0"/>
                        </a:spcAft>
                      </a:pPr>
                      <a:r>
                        <a:rPr sz="1700" b="1">
                          <a:solidFill>
                            <a:srgbClr val="FFFFFF"/>
                          </a:solidFill>
                          <a:latin typeface="Yu Gothic"/>
                          <a:ea typeface="Yu Gothic"/>
                          <a:cs typeface="Yu Gothic"/>
                        </a:rPr>
                        <a:t>条件</a:t>
                      </a:r>
                    </a:p>
                  </a:txBody>
                  <a:tcPr marL="91440" marR="91440" anchor="ctr">
                    <a:solidFill>
                      <a:srgbClr val="1F3A5F"/>
                    </a:solidFill>
                  </a:tcPr>
                </a:tc>
                <a:tc>
                  <a:txBody>
                    <a:bodyPr wrap="square"/>
                    <a:lstStyle/>
                    <a:p>
                      <a:pPr algn="l">
                        <a:spcAft>
                          <a:spcPts val="0"/>
                        </a:spcAft>
                      </a:pPr>
                      <a:r>
                        <a:rPr sz="1700" b="1">
                          <a:solidFill>
                            <a:srgbClr val="FFFFFF"/>
                          </a:solidFill>
                          <a:latin typeface="Yu Gothic"/>
                          <a:ea typeface="Yu Gothic"/>
                          <a:cs typeface="Yu Gothic"/>
                        </a:rPr>
                        <a:t>LLM構成</a:t>
                      </a:r>
                    </a:p>
                  </a:txBody>
                  <a:tcPr marL="91440" marR="91440" anchor="ctr">
                    <a:solidFill>
                      <a:srgbClr val="1F3A5F"/>
                    </a:solidFill>
                  </a:tcPr>
                </a:tc>
                <a:tc>
                  <a:txBody>
                    <a:bodyPr wrap="square"/>
                    <a:lstStyle/>
                    <a:p>
                      <a:pPr algn="l">
                        <a:spcAft>
                          <a:spcPts val="0"/>
                        </a:spcAft>
                      </a:pPr>
                      <a:r>
                        <a:rPr sz="1700" b="1">
                          <a:solidFill>
                            <a:srgbClr val="FFFFFF"/>
                          </a:solidFill>
                          <a:latin typeface="Yu Gothic"/>
                          <a:ea typeface="Yu Gothic"/>
                          <a:cs typeface="Yu Gothic"/>
                        </a:rPr>
                        <a:t>狙い</a:t>
                      </a:r>
                    </a:p>
                  </a:txBody>
                  <a:tcPr marL="91440" marR="91440" anchor="ctr">
                    <a:solidFill>
                      <a:srgbClr val="1F3A5F"/>
                    </a:solidFill>
                  </a:tcPr>
                </a:tc>
                <a:tc>
                  <a:txBody>
                    <a:bodyPr wrap="square"/>
                    <a:lstStyle/>
                    <a:p>
                      <a:pPr algn="l">
                        <a:spcAft>
                          <a:spcPts val="0"/>
                        </a:spcAft>
                      </a:pPr>
                      <a:r>
                        <a:rPr sz="1700" b="1">
                          <a:solidFill>
                            <a:srgbClr val="FFFFFF"/>
                          </a:solidFill>
                          <a:latin typeface="Yu Gothic"/>
                          <a:ea typeface="Yu Gothic"/>
                          <a:cs typeface="Yu Gothic"/>
                        </a:rPr>
                        <a:t>本研究での状態</a:t>
                      </a:r>
                    </a:p>
                  </a:txBody>
                  <a:tcPr marL="91440" marR="91440" anchor="ctr">
                    <a:solidFill>
                      <a:srgbClr val="1F3A5F"/>
                    </a:solidFill>
                  </a:tcPr>
                </a:tc>
              </a:tr>
              <a:tr h="658368">
                <a:tc>
                  <a:txBody>
                    <a:bodyPr wrap="square"/>
                    <a:lstStyle/>
                    <a:p>
                      <a:pPr algn="l">
                        <a:spcAft>
                          <a:spcPts val="0"/>
                        </a:spcAft>
                      </a:pPr>
                      <a:r>
                        <a:rPr sz="1600" b="0">
                          <a:solidFill>
                            <a:srgbClr val="222222"/>
                          </a:solidFill>
                          <a:latin typeface="Yu Gothic"/>
                          <a:ea typeface="Yu Gothic"/>
                          <a:cs typeface="Yu Gothic"/>
                        </a:rPr>
                        <a:t>A</a:t>
                      </a:r>
                    </a:p>
                  </a:txBody>
                  <a:tcPr marL="91440" marR="91440" anchor="ctr">
                    <a:solidFill>
                      <a:srgbClr val="FFFFFF"/>
                    </a:solidFill>
                  </a:tcPr>
                </a:tc>
                <a:tc>
                  <a:txBody>
                    <a:bodyPr wrap="square"/>
                    <a:lstStyle/>
                    <a:p>
                      <a:pPr algn="l">
                        <a:spcAft>
                          <a:spcPts val="0"/>
                        </a:spcAft>
                      </a:pPr>
                      <a:r>
                        <a:rPr sz="1600" b="0">
                          <a:solidFill>
                            <a:srgbClr val="222222"/>
                          </a:solidFill>
                          <a:latin typeface="Yu Gothic"/>
                          <a:ea typeface="Yu Gothic"/>
                          <a:cs typeface="Yu Gothic"/>
                        </a:rPr>
                        <a:t>LLM 1体</a:t>
                      </a:r>
                    </a:p>
                  </a:txBody>
                  <a:tcPr marL="91440" marR="91440" anchor="ctr">
                    <a:solidFill>
                      <a:srgbClr val="FFFFFF"/>
                    </a:solidFill>
                  </a:tcPr>
                </a:tc>
                <a:tc>
                  <a:txBody>
                    <a:bodyPr wrap="square"/>
                    <a:lstStyle/>
                    <a:p>
                      <a:pPr algn="l">
                        <a:spcAft>
                          <a:spcPts val="0"/>
                        </a:spcAft>
                      </a:pPr>
                      <a:r>
                        <a:rPr sz="1600" b="0">
                          <a:solidFill>
                            <a:srgbClr val="222222"/>
                          </a:solidFill>
                          <a:latin typeface="Yu Gothic"/>
                          <a:ea typeface="Yu Gothic"/>
                          <a:cs typeface="Yu Gothic"/>
                        </a:rPr>
                        <a:t>基準条件</a:t>
                      </a:r>
                    </a:p>
                  </a:txBody>
                  <a:tcPr marL="91440" marR="91440" anchor="ctr">
                    <a:solidFill>
                      <a:srgbClr val="FFFFFF"/>
                    </a:solidFill>
                  </a:tcPr>
                </a:tc>
                <a:tc>
                  <a:txBody>
                    <a:bodyPr wrap="square"/>
                    <a:lstStyle/>
                    <a:p>
                      <a:pPr algn="l">
                        <a:spcAft>
                          <a:spcPts val="0"/>
                        </a:spcAft>
                      </a:pPr>
                      <a:r>
                        <a:rPr sz="1600" b="0">
                          <a:solidFill>
                            <a:srgbClr val="222222"/>
                          </a:solidFill>
                          <a:latin typeface="Yu Gothic"/>
                          <a:ea typeface="Yu Gothic"/>
                          <a:cs typeface="Yu Gothic"/>
                        </a:rPr>
                        <a:t>実装済み（単体AI版）</a:t>
                      </a:r>
                    </a:p>
                  </a:txBody>
                  <a:tcPr marL="91440" marR="91440" anchor="ctr">
                    <a:solidFill>
                      <a:srgbClr val="FFFFFF"/>
                    </a:solidFill>
                  </a:tcPr>
                </a:tc>
              </a:tr>
              <a:tr h="658368">
                <a:tc>
                  <a:txBody>
                    <a:bodyPr wrap="square"/>
                    <a:lstStyle/>
                    <a:p>
                      <a:pPr algn="l">
                        <a:spcAft>
                          <a:spcPts val="0"/>
                        </a:spcAft>
                      </a:pPr>
                      <a:r>
                        <a:rPr sz="1600" b="1">
                          <a:solidFill>
                            <a:srgbClr val="C0392B"/>
                          </a:solidFill>
                          <a:latin typeface="Yu Gothic"/>
                          <a:ea typeface="Yu Gothic"/>
                          <a:cs typeface="Yu Gothic"/>
                        </a:rPr>
                        <a:t>B</a:t>
                      </a:r>
                    </a:p>
                  </a:txBody>
                  <a:tcPr marL="91440" marR="91440" anchor="ctr">
                    <a:solidFill>
                      <a:srgbClr val="FDECEA"/>
                    </a:solidFill>
                  </a:tcPr>
                </a:tc>
                <a:tc>
                  <a:txBody>
                    <a:bodyPr wrap="square"/>
                    <a:lstStyle/>
                    <a:p>
                      <a:pPr algn="l">
                        <a:spcAft>
                          <a:spcPts val="0"/>
                        </a:spcAft>
                      </a:pPr>
                      <a:r>
                        <a:rPr sz="1600" b="1">
                          <a:solidFill>
                            <a:srgbClr val="C0392B"/>
                          </a:solidFill>
                          <a:latin typeface="Yu Gothic"/>
                          <a:ea typeface="Yu Gothic"/>
                          <a:cs typeface="Yu Gothic"/>
                        </a:rPr>
                        <a:t>1体＋複数ペルソナ</a:t>
                      </a:r>
                    </a:p>
                  </a:txBody>
                  <a:tcPr marL="91440" marR="91440" anchor="ctr">
                    <a:solidFill>
                      <a:srgbClr val="FDECEA"/>
                    </a:solidFill>
                  </a:tcPr>
                </a:tc>
                <a:tc>
                  <a:txBody>
                    <a:bodyPr wrap="square"/>
                    <a:lstStyle/>
                    <a:p>
                      <a:pPr algn="l">
                        <a:spcAft>
                          <a:spcPts val="0"/>
                        </a:spcAft>
                      </a:pPr>
                      <a:r>
                        <a:rPr sz="1600" b="1">
                          <a:solidFill>
                            <a:srgbClr val="C0392B"/>
                          </a:solidFill>
                          <a:latin typeface="Yu Gothic"/>
                          <a:ea typeface="Yu Gothic"/>
                          <a:cs typeface="Yu Gothic"/>
                        </a:rPr>
                        <a:t>視点を変える効果</a:t>
                      </a:r>
                    </a:p>
                  </a:txBody>
                  <a:tcPr marL="91440" marR="91440" anchor="ctr">
                    <a:solidFill>
                      <a:srgbClr val="FDECEA"/>
                    </a:solidFill>
                  </a:tcPr>
                </a:tc>
                <a:tc>
                  <a:txBody>
                    <a:bodyPr wrap="square"/>
                    <a:lstStyle/>
                    <a:p>
                      <a:pPr algn="l">
                        <a:spcAft>
                          <a:spcPts val="0"/>
                        </a:spcAft>
                      </a:pPr>
                      <a:r>
                        <a:rPr sz="1600" b="1">
                          <a:solidFill>
                            <a:srgbClr val="C0392B"/>
                          </a:solidFill>
                          <a:latin typeface="Yu Gothic"/>
                          <a:ea typeface="Yu Gothic"/>
                          <a:cs typeface="Yu Gothic"/>
                        </a:rPr>
                        <a:t>実装済み ← 今回の動作映像</a:t>
                      </a:r>
                    </a:p>
                  </a:txBody>
                  <a:tcPr marL="91440" marR="91440" anchor="ctr">
                    <a:solidFill>
                      <a:srgbClr val="FDECEA"/>
                    </a:solidFill>
                  </a:tcPr>
                </a:tc>
              </a:tr>
              <a:tr h="658368">
                <a:tc>
                  <a:txBody>
                    <a:bodyPr wrap="square"/>
                    <a:lstStyle/>
                    <a:p>
                      <a:pPr algn="l">
                        <a:spcAft>
                          <a:spcPts val="0"/>
                        </a:spcAft>
                      </a:pPr>
                      <a:r>
                        <a:rPr sz="1600" b="0">
                          <a:solidFill>
                            <a:srgbClr val="222222"/>
                          </a:solidFill>
                          <a:latin typeface="Yu Gothic"/>
                          <a:ea typeface="Yu Gothic"/>
                          <a:cs typeface="Yu Gothic"/>
                        </a:rPr>
                        <a:t>C</a:t>
                      </a:r>
                    </a:p>
                  </a:txBody>
                  <a:tcPr marL="91440" marR="91440" anchor="ctr">
                    <a:solidFill>
                      <a:srgbClr val="FFFFFF"/>
                    </a:solidFill>
                  </a:tcPr>
                </a:tc>
                <a:tc>
                  <a:txBody>
                    <a:bodyPr wrap="square"/>
                    <a:lstStyle/>
                    <a:p>
                      <a:pPr algn="l">
                        <a:spcAft>
                          <a:spcPts val="0"/>
                        </a:spcAft>
                      </a:pPr>
                      <a:r>
                        <a:rPr sz="1600" b="0">
                          <a:solidFill>
                            <a:srgbClr val="222222"/>
                          </a:solidFill>
                          <a:latin typeface="Yu Gothic"/>
                          <a:ea typeface="Yu Gothic"/>
                          <a:cs typeface="Yu Gothic"/>
                        </a:rPr>
                        <a:t>複数LLM＋固定順</a:t>
                      </a:r>
                    </a:p>
                  </a:txBody>
                  <a:tcPr marL="91440" marR="91440" anchor="ctr">
                    <a:solidFill>
                      <a:srgbClr val="FFFFFF"/>
                    </a:solidFill>
                  </a:tcPr>
                </a:tc>
                <a:tc>
                  <a:txBody>
                    <a:bodyPr wrap="square"/>
                    <a:lstStyle/>
                    <a:p>
                      <a:pPr algn="l">
                        <a:spcAft>
                          <a:spcPts val="0"/>
                        </a:spcAft>
                      </a:pPr>
                      <a:r>
                        <a:rPr sz="1600" b="0">
                          <a:solidFill>
                            <a:srgbClr val="222222"/>
                          </a:solidFill>
                          <a:latin typeface="Yu Gothic"/>
                          <a:ea typeface="Yu Gothic"/>
                          <a:cs typeface="Yu Gothic"/>
                        </a:rPr>
                        <a:t>独立した役割を持つ効果</a:t>
                      </a:r>
                    </a:p>
                  </a:txBody>
                  <a:tcPr marL="91440" marR="91440" anchor="ctr">
                    <a:solidFill>
                      <a:srgbClr val="FFFFFF"/>
                    </a:solidFill>
                  </a:tcPr>
                </a:tc>
                <a:tc>
                  <a:txBody>
                    <a:bodyPr wrap="square"/>
                    <a:lstStyle/>
                    <a:p>
                      <a:pPr algn="l">
                        <a:spcAft>
                          <a:spcPts val="0"/>
                        </a:spcAft>
                      </a:pPr>
                      <a:r>
                        <a:rPr sz="1600" b="0">
                          <a:solidFill>
                            <a:srgbClr val="222222"/>
                          </a:solidFill>
                          <a:latin typeface="Yu Gothic"/>
                          <a:ea typeface="Yu Gothic"/>
                          <a:cs typeface="Yu Gothic"/>
                        </a:rPr>
                        <a:t>設定変更で対応可能</a:t>
                      </a:r>
                    </a:p>
                  </a:txBody>
                  <a:tcPr marL="91440" marR="91440" anchor="ctr">
                    <a:solidFill>
                      <a:srgbClr val="FFFFFF"/>
                    </a:solidFill>
                  </a:tcPr>
                </a:tc>
              </a:tr>
              <a:tr h="658368">
                <a:tc>
                  <a:txBody>
                    <a:bodyPr wrap="square"/>
                    <a:lstStyle/>
                    <a:p>
                      <a:pPr algn="l">
                        <a:spcAft>
                          <a:spcPts val="0"/>
                        </a:spcAft>
                      </a:pPr>
                      <a:r>
                        <a:rPr sz="1600" b="0">
                          <a:solidFill>
                            <a:srgbClr val="222222"/>
                          </a:solidFill>
                          <a:latin typeface="Yu Gothic"/>
                          <a:ea typeface="Yu Gothic"/>
                          <a:cs typeface="Yu Gothic"/>
                        </a:rPr>
                        <a:t>D</a:t>
                      </a:r>
                    </a:p>
                  </a:txBody>
                  <a:tcPr marL="91440" marR="91440" anchor="ctr">
                    <a:solidFill>
                      <a:srgbClr val="EFF3F7"/>
                    </a:solidFill>
                  </a:tcPr>
                </a:tc>
                <a:tc>
                  <a:txBody>
                    <a:bodyPr wrap="square"/>
                    <a:lstStyle/>
                    <a:p>
                      <a:pPr algn="l">
                        <a:spcAft>
                          <a:spcPts val="0"/>
                        </a:spcAft>
                      </a:pPr>
                      <a:r>
                        <a:rPr sz="1600" b="0">
                          <a:solidFill>
                            <a:srgbClr val="222222"/>
                          </a:solidFill>
                          <a:latin typeface="Yu Gothic"/>
                          <a:ea typeface="Yu Gothic"/>
                          <a:cs typeface="Yu Gothic"/>
                        </a:rPr>
                        <a:t>複数LLM＋司会AI</a:t>
                      </a:r>
                    </a:p>
                  </a:txBody>
                  <a:tcPr marL="91440" marR="91440" anchor="ctr">
                    <a:solidFill>
                      <a:srgbClr val="EFF3F7"/>
                    </a:solidFill>
                  </a:tcPr>
                </a:tc>
                <a:tc>
                  <a:txBody>
                    <a:bodyPr wrap="square"/>
                    <a:lstStyle/>
                    <a:p>
                      <a:pPr algn="l">
                        <a:spcAft>
                          <a:spcPts val="0"/>
                        </a:spcAft>
                      </a:pPr>
                      <a:r>
                        <a:rPr sz="1600" b="0">
                          <a:solidFill>
                            <a:srgbClr val="222222"/>
                          </a:solidFill>
                          <a:latin typeface="Yu Gothic"/>
                          <a:ea typeface="Yu Gothic"/>
                          <a:cs typeface="Yu Gothic"/>
                        </a:rPr>
                        <a:t>対話を動的に制御する効果</a:t>
                      </a:r>
                    </a:p>
                  </a:txBody>
                  <a:tcPr marL="91440" marR="91440" anchor="ctr">
                    <a:solidFill>
                      <a:srgbClr val="EFF3F7"/>
                    </a:solidFill>
                  </a:tcPr>
                </a:tc>
                <a:tc>
                  <a:txBody>
                    <a:bodyPr wrap="square"/>
                    <a:lstStyle/>
                    <a:p>
                      <a:pPr algn="l">
                        <a:spcAft>
                          <a:spcPts val="0"/>
                        </a:spcAft>
                      </a:pPr>
                      <a:r>
                        <a:rPr sz="1600" b="0">
                          <a:solidFill>
                            <a:srgbClr val="222222"/>
                          </a:solidFill>
                          <a:latin typeface="Yu Gothic"/>
                          <a:ea typeface="Yu Gothic"/>
                          <a:cs typeface="Yu Gothic"/>
                        </a:rPr>
                        <a:t>次段階で実装</a:t>
                      </a:r>
                    </a:p>
                  </a:txBody>
                  <a:tcPr marL="91440" marR="91440" anchor="ctr">
                    <a:solidFill>
                      <a:srgbClr val="EFF3F7"/>
                    </a:solidFill>
                  </a:tcPr>
                </a:tc>
              </a:tr>
            </a:tbl>
          </a:graphicData>
        </a:graphic>
      </p:graphicFrame>
      <p:sp>
        <p:nvSpPr>
          <p:cNvPr id="6" name="Rounded Rectangle 5"/>
          <p:cNvSpPr/>
          <p:nvPr/>
        </p:nvSpPr>
        <p:spPr>
          <a:xfrm>
            <a:off x="640080" y="4800600"/>
            <a:ext cx="5303520" cy="137160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800" b="1">
                <a:solidFill>
                  <a:srgbClr val="0E7C86"/>
                </a:solidFill>
                <a:latin typeface="Yu Gothic"/>
                <a:ea typeface="Yu Gothic"/>
                <a:cs typeface="Yu Gothic"/>
              </a:rPr>
              <a:t>現在の3体の位置づけ</a:t>
            </a:r>
          </a:p>
          <a:p>
            <a:pPr algn="l">
              <a:spcAft>
                <a:spcPts val="500"/>
              </a:spcAft>
            </a:pPr>
            <a:r>
              <a:rPr sz="1400" b="0">
                <a:solidFill>
                  <a:srgbClr val="222222"/>
                </a:solidFill>
                <a:latin typeface="Yu Gothic"/>
                <a:ea typeface="Yu Gothic"/>
                <a:cs typeface="Yu Gothic"/>
              </a:rPr>
              <a:t>同一モデルに3つの異なるペルソナを与え、</a:t>
            </a:r>
          </a:p>
          <a:p>
            <a:pPr algn="l">
              <a:spcAft>
                <a:spcPts val="500"/>
              </a:spcAft>
            </a:pPr>
            <a:r>
              <a:rPr sz="1400" b="0">
                <a:solidFill>
                  <a:srgbClr val="222222"/>
                </a:solidFill>
                <a:latin typeface="Yu Gothic"/>
                <a:ea typeface="Yu Gothic"/>
                <a:cs typeface="Yu Gothic"/>
              </a:rPr>
              <a:t>固定順で回している（＝条件B）。</a:t>
            </a:r>
          </a:p>
          <a:p>
            <a:pPr algn="l">
              <a:spcAft>
                <a:spcPts val="500"/>
              </a:spcAft>
            </a:pPr>
            <a:r>
              <a:rPr sz="1400" b="0">
                <a:solidFill>
                  <a:srgbClr val="222222"/>
                </a:solidFill>
                <a:latin typeface="Yu Gothic"/>
                <a:ea typeface="Yu Gothic"/>
                <a:cs typeface="Yu Gothic"/>
              </a:rPr>
              <a:t>エージェントごとにモデルを指定できる構造なので、</a:t>
            </a:r>
          </a:p>
          <a:p>
            <a:pPr algn="l">
              <a:spcAft>
                <a:spcPts val="500"/>
              </a:spcAft>
            </a:pPr>
            <a:r>
              <a:rPr sz="1400" b="0">
                <a:solidFill>
                  <a:srgbClr val="222222"/>
                </a:solidFill>
                <a:latin typeface="Yu Gothic"/>
                <a:ea typeface="Yu Gothic"/>
                <a:cs typeface="Yu Gothic"/>
              </a:rPr>
              <a:t>条件Cへはコード変更なしで移行できる。</a:t>
            </a:r>
          </a:p>
        </p:txBody>
      </p:sp>
      <p:sp>
        <p:nvSpPr>
          <p:cNvPr id="7" name="Rounded Rectangle 6"/>
          <p:cNvSpPr/>
          <p:nvPr/>
        </p:nvSpPr>
        <p:spPr>
          <a:xfrm>
            <a:off x="6217920" y="4800600"/>
            <a:ext cx="5303520" cy="1371600"/>
          </a:xfrm>
          <a:prstGeom prst="roundRect">
            <a:avLst/>
          </a:prstGeom>
          <a:solidFill>
            <a:srgbClr val="EFF3F7"/>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800" b="1">
                <a:solidFill>
                  <a:srgbClr val="C0392B"/>
                </a:solidFill>
                <a:latin typeface="Yu Gothic"/>
                <a:ea typeface="Yu Gothic"/>
                <a:cs typeface="Yu Gothic"/>
              </a:rPr>
              <a:t>比較で見たいこと</a:t>
            </a:r>
          </a:p>
          <a:p>
            <a:pPr algn="l">
              <a:spcAft>
                <a:spcPts val="500"/>
              </a:spcAft>
            </a:pPr>
            <a:r>
              <a:rPr sz="1400" b="0">
                <a:solidFill>
                  <a:srgbClr val="222222"/>
                </a:solidFill>
                <a:latin typeface="Yu Gothic"/>
                <a:ea typeface="Yu Gothic"/>
                <a:cs typeface="Yu Gothic"/>
              </a:rPr>
              <a:t>・重複のない多面的な意見が得られるか</a:t>
            </a:r>
          </a:p>
          <a:p>
            <a:pPr algn="l">
              <a:spcAft>
                <a:spcPts val="500"/>
              </a:spcAft>
            </a:pPr>
            <a:r>
              <a:rPr sz="1400" b="0">
                <a:solidFill>
                  <a:srgbClr val="222222"/>
                </a:solidFill>
                <a:latin typeface="Yu Gothic"/>
                <a:ea typeface="Yu Gothic"/>
                <a:cs typeface="Yu Gothic"/>
              </a:rPr>
              <a:t>・応答時間と発言数のつり合い</a:t>
            </a:r>
          </a:p>
          <a:p>
            <a:pPr algn="l">
              <a:spcAft>
                <a:spcPts val="500"/>
              </a:spcAft>
            </a:pPr>
            <a:r>
              <a:rPr sz="1400" b="0">
                <a:solidFill>
                  <a:srgbClr val="222222"/>
                </a:solidFill>
                <a:latin typeface="Yu Gothic"/>
                <a:ea typeface="Yu Gothic"/>
                <a:cs typeface="Yu Gothic"/>
              </a:rPr>
              <a:t>・患者の負担にならない対話の長さ</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a:lstStyle/>
          <a:p>
            <a:pPr algn="l">
              <a:spcAft>
                <a:spcPts val="600"/>
              </a:spcAft>
            </a:pPr>
            <a:r>
              <a:rPr sz="3000" b="1">
                <a:solidFill>
                  <a:srgbClr val="FFFFFF"/>
                </a:solidFill>
                <a:latin typeface="Yu Gothic"/>
                <a:ea typeface="Yu Gothic"/>
                <a:cs typeface="Yu Gothic"/>
              </a:rPr>
              <a:t>今後の方針</a:t>
            </a:r>
          </a:p>
        </p:txBody>
      </p:sp>
      <p:sp>
        <p:nvSpPr>
          <p:cNvPr id="3" name="TextBox 2"/>
          <p:cNvSpPr txBox="1"/>
          <p:nvPr/>
        </p:nvSpPr>
        <p:spPr>
          <a:xfrm>
            <a:off x="11277295" y="6355080"/>
            <a:ext cx="640080" cy="365760"/>
          </a:xfrm>
          <a:prstGeom prst="rect">
            <a:avLst/>
          </a:prstGeom>
          <a:noFill/>
        </p:spPr>
        <p:txBody>
          <a:bodyPr wrap="square" anchor="t">
            <a:spAutoFit/>
          </a:bodyPr>
          <a:lstStyle/>
          <a:p>
            <a:pPr algn="r">
              <a:spcAft>
                <a:spcPts val="600"/>
              </a:spcAft>
            </a:pPr>
            <a:r>
              <a:rPr sz="1400" b="0">
                <a:solidFill>
                  <a:srgbClr val="595A5C"/>
                </a:solidFill>
                <a:latin typeface="Yu Gothic"/>
                <a:ea typeface="Yu Gothic"/>
                <a:cs typeface="Yu Gothic"/>
              </a:rPr>
              <a:t>11</a:t>
            </a:r>
          </a:p>
        </p:txBody>
      </p:sp>
      <p:sp>
        <p:nvSpPr>
          <p:cNvPr id="4" name="Right Arrow 3"/>
          <p:cNvSpPr/>
          <p:nvPr/>
        </p:nvSpPr>
        <p:spPr>
          <a:xfrm>
            <a:off x="548640" y="2816352"/>
            <a:ext cx="11064240" cy="292608"/>
          </a:xfrm>
          <a:prstGeom prst="rightArrow">
            <a:avLst/>
          </a:prstGeom>
          <a:solidFill>
            <a:srgbClr val="C8D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188720"/>
            <a:ext cx="2628900" cy="1508760"/>
          </a:xfrm>
          <a:prstGeom prst="roundRect">
            <a:avLst/>
          </a:prstGeom>
          <a:solidFill>
            <a:srgbClr val="0E7C86"/>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a:lstStyle/>
          <a:p>
            <a:pPr algn="ctr">
              <a:spcAft>
                <a:spcPts val="600"/>
              </a:spcAft>
            </a:pPr>
            <a:r>
              <a:rPr sz="1900" b="1">
                <a:solidFill>
                  <a:srgbClr val="FFFFFF"/>
                </a:solidFill>
                <a:latin typeface="Yu Gothic"/>
                <a:ea typeface="Yu Gothic"/>
                <a:cs typeface="Yu Gothic"/>
              </a:rPr>
              <a:t>現在</a:t>
            </a:r>
          </a:p>
          <a:p>
            <a:pPr algn="ctr">
              <a:spcAft>
                <a:spcPts val="300"/>
              </a:spcAft>
            </a:pPr>
            <a:r>
              <a:rPr sz="1300" b="0">
                <a:solidFill>
                  <a:srgbClr val="FFFFFF"/>
                </a:solidFill>
                <a:latin typeface="Yu Gothic"/>
                <a:ea typeface="Yu Gothic"/>
                <a:cs typeface="Yu Gothic"/>
              </a:rPr>
              <a:t>LabVIEWとLLMのJSON接続基盤</a:t>
            </a:r>
          </a:p>
          <a:p>
            <a:pPr algn="ctr">
              <a:spcAft>
                <a:spcPts val="300"/>
              </a:spcAft>
            </a:pPr>
            <a:r>
              <a:rPr sz="1300" b="0">
                <a:solidFill>
                  <a:srgbClr val="FFFFFF"/>
                </a:solidFill>
                <a:latin typeface="Yu Gothic"/>
                <a:ea typeface="Yu Gothic"/>
                <a:cs typeface="Yu Gothic"/>
              </a:rPr>
              <a:t>サーバー側の会話制御</a:t>
            </a:r>
          </a:p>
          <a:p>
            <a:pPr algn="ctr">
              <a:spcAft>
                <a:spcPts val="300"/>
              </a:spcAft>
            </a:pPr>
            <a:r>
              <a:rPr sz="1300" b="0">
                <a:solidFill>
                  <a:srgbClr val="FFFFFF"/>
                </a:solidFill>
                <a:latin typeface="Yu Gothic"/>
                <a:ea typeface="Yu Gothic"/>
                <a:cs typeface="Yu Gothic"/>
              </a:rPr>
              <a:t>（ここまで実装済み）</a:t>
            </a:r>
          </a:p>
        </p:txBody>
      </p:sp>
      <p:sp>
        <p:nvSpPr>
          <p:cNvPr id="6" name="Rounded Rectangle 5"/>
          <p:cNvSpPr/>
          <p:nvPr/>
        </p:nvSpPr>
        <p:spPr>
          <a:xfrm>
            <a:off x="3360420" y="1188720"/>
            <a:ext cx="2628900" cy="1508760"/>
          </a:xfrm>
          <a:prstGeom prst="roundRect">
            <a:avLst/>
          </a:prstGeom>
          <a:solidFill>
            <a:srgbClr val="EFF3F7"/>
          </a:solidFill>
          <a:ln w="12700">
            <a:solidFill>
              <a:srgbClr val="595A5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a:lstStyle/>
          <a:p>
            <a:pPr algn="ctr">
              <a:spcAft>
                <a:spcPts val="600"/>
              </a:spcAft>
            </a:pPr>
            <a:r>
              <a:rPr sz="1900" b="1">
                <a:solidFill>
                  <a:srgbClr val="1F3A5F"/>
                </a:solidFill>
                <a:latin typeface="Yu Gothic"/>
                <a:ea typeface="Yu Gothic"/>
                <a:cs typeface="Yu Gothic"/>
              </a:rPr>
              <a:t>次段階</a:t>
            </a:r>
          </a:p>
          <a:p>
            <a:pPr algn="ctr">
              <a:spcAft>
                <a:spcPts val="300"/>
              </a:spcAft>
            </a:pPr>
            <a:r>
              <a:rPr sz="1300" b="0">
                <a:solidFill>
                  <a:srgbClr val="222222"/>
                </a:solidFill>
                <a:latin typeface="Yu Gothic"/>
                <a:ea typeface="Yu Gothic"/>
                <a:cs typeface="Yu Gothic"/>
              </a:rPr>
              <a:t>司会AIの導入</a:t>
            </a:r>
          </a:p>
          <a:p>
            <a:pPr algn="ctr">
              <a:spcAft>
                <a:spcPts val="300"/>
              </a:spcAft>
            </a:pPr>
            <a:r>
              <a:rPr sz="1300" b="0">
                <a:solidFill>
                  <a:srgbClr val="222222"/>
                </a:solidFill>
                <a:latin typeface="Yu Gothic"/>
                <a:ea typeface="Yu Gothic"/>
                <a:cs typeface="Yu Gothic"/>
              </a:rPr>
              <a:t>ペルソナの動的な切り替え</a:t>
            </a:r>
          </a:p>
          <a:p>
            <a:pPr algn="ctr">
              <a:spcAft>
                <a:spcPts val="300"/>
              </a:spcAft>
            </a:pPr>
            <a:r>
              <a:rPr sz="1300" b="0">
                <a:solidFill>
                  <a:srgbClr val="222222"/>
                </a:solidFill>
                <a:latin typeface="Yu Gothic"/>
                <a:ea typeface="Yu Gothic"/>
                <a:cs typeface="Yu Gothic"/>
              </a:rPr>
              <a:t>（本研究で取り組む範囲）</a:t>
            </a:r>
          </a:p>
        </p:txBody>
      </p:sp>
      <p:sp>
        <p:nvSpPr>
          <p:cNvPr id="7" name="Rounded Rectangle 6"/>
          <p:cNvSpPr/>
          <p:nvPr/>
        </p:nvSpPr>
        <p:spPr>
          <a:xfrm>
            <a:off x="6172200" y="1188720"/>
            <a:ext cx="2628900" cy="1508760"/>
          </a:xfrm>
          <a:prstGeom prst="roundRect">
            <a:avLst/>
          </a:prstGeom>
          <a:solidFill>
            <a:srgbClr val="EFF3F7"/>
          </a:solidFill>
          <a:ln w="12700">
            <a:solidFill>
              <a:srgbClr val="595A5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a:lstStyle/>
          <a:p>
            <a:pPr algn="ctr">
              <a:spcAft>
                <a:spcPts val="600"/>
              </a:spcAft>
            </a:pPr>
            <a:r>
              <a:rPr sz="1900" b="1">
                <a:solidFill>
                  <a:srgbClr val="1F3A5F"/>
                </a:solidFill>
                <a:latin typeface="Yu Gothic"/>
                <a:ea typeface="Yu Gothic"/>
                <a:cs typeface="Yu Gothic"/>
              </a:rPr>
              <a:t>中期</a:t>
            </a:r>
          </a:p>
          <a:p>
            <a:pPr algn="ctr">
              <a:spcAft>
                <a:spcPts val="300"/>
              </a:spcAft>
            </a:pPr>
            <a:r>
              <a:rPr sz="1300" b="0">
                <a:solidFill>
                  <a:srgbClr val="222222"/>
                </a:solidFill>
                <a:latin typeface="Yu Gothic"/>
                <a:ea typeface="Yu Gothic"/>
                <a:cs typeface="Yu Gothic"/>
              </a:rPr>
              <a:t>研究室の既存研究とLLMを</a:t>
            </a:r>
          </a:p>
          <a:p>
            <a:pPr algn="ctr">
              <a:spcAft>
                <a:spcPts val="300"/>
              </a:spcAft>
            </a:pPr>
            <a:r>
              <a:rPr sz="1300" b="0">
                <a:solidFill>
                  <a:srgbClr val="222222"/>
                </a:solidFill>
                <a:latin typeface="Yu Gothic"/>
                <a:ea typeface="Yu Gothic"/>
                <a:cs typeface="Yu Gothic"/>
              </a:rPr>
              <a:t>繋ぐゲートウェイ化</a:t>
            </a:r>
          </a:p>
          <a:p>
            <a:pPr algn="ctr">
              <a:spcAft>
                <a:spcPts val="300"/>
              </a:spcAft>
            </a:pPr>
            <a:r>
              <a:rPr sz="1300" b="0">
                <a:solidFill>
                  <a:srgbClr val="222222"/>
                </a:solidFill>
                <a:latin typeface="Yu Gothic"/>
                <a:ea typeface="Yu Gothic"/>
                <a:cs typeface="Yu Gothic"/>
              </a:rPr>
              <a:t>センサーデータとの統合</a:t>
            </a:r>
          </a:p>
        </p:txBody>
      </p:sp>
      <p:sp>
        <p:nvSpPr>
          <p:cNvPr id="8" name="Rounded Rectangle 7"/>
          <p:cNvSpPr/>
          <p:nvPr/>
        </p:nvSpPr>
        <p:spPr>
          <a:xfrm>
            <a:off x="8983980" y="1188720"/>
            <a:ext cx="2628900" cy="1508760"/>
          </a:xfrm>
          <a:prstGeom prst="roundRect">
            <a:avLst/>
          </a:prstGeom>
          <a:solidFill>
            <a:srgbClr val="EFF3F7"/>
          </a:solidFill>
          <a:ln w="12700">
            <a:solidFill>
              <a:srgbClr val="595A5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a:lstStyle/>
          <a:p>
            <a:pPr algn="ctr">
              <a:spcAft>
                <a:spcPts val="600"/>
              </a:spcAft>
            </a:pPr>
            <a:r>
              <a:rPr sz="1900" b="1">
                <a:solidFill>
                  <a:srgbClr val="1F3A5F"/>
                </a:solidFill>
                <a:latin typeface="Yu Gothic"/>
                <a:ea typeface="Yu Gothic"/>
                <a:cs typeface="Yu Gothic"/>
              </a:rPr>
              <a:t>長期［ビジョン］</a:t>
            </a:r>
          </a:p>
          <a:p>
            <a:pPr algn="ctr">
              <a:spcAft>
                <a:spcPts val="300"/>
              </a:spcAft>
            </a:pPr>
            <a:r>
              <a:rPr sz="1300" b="0">
                <a:solidFill>
                  <a:srgbClr val="222222"/>
                </a:solidFill>
                <a:latin typeface="Yu Gothic"/>
                <a:ea typeface="Yu Gothic"/>
                <a:cs typeface="Yu Gothic"/>
              </a:rPr>
              <a:t>客観データと主観データを</a:t>
            </a:r>
          </a:p>
          <a:p>
            <a:pPr algn="ctr">
              <a:spcAft>
                <a:spcPts val="300"/>
              </a:spcAft>
            </a:pPr>
            <a:r>
              <a:rPr sz="1300" b="0">
                <a:solidFill>
                  <a:srgbClr val="222222"/>
                </a:solidFill>
                <a:latin typeface="Yu Gothic"/>
                <a:ea typeface="Yu Gothic"/>
                <a:cs typeface="Yu Gothic"/>
              </a:rPr>
              <a:t>組み合わせた評価空間</a:t>
            </a:r>
          </a:p>
        </p:txBody>
      </p:sp>
      <p:sp>
        <p:nvSpPr>
          <p:cNvPr id="9" name="TextBox 8"/>
          <p:cNvSpPr txBox="1"/>
          <p:nvPr/>
        </p:nvSpPr>
        <p:spPr>
          <a:xfrm>
            <a:off x="640080" y="3429000"/>
            <a:ext cx="10881360" cy="457200"/>
          </a:xfrm>
          <a:prstGeom prst="rect">
            <a:avLst/>
          </a:prstGeom>
          <a:noFill/>
        </p:spPr>
        <p:txBody>
          <a:bodyPr wrap="square" anchor="t">
            <a:spAutoFit/>
          </a:bodyPr>
          <a:lstStyle/>
          <a:p>
            <a:pPr algn="l">
              <a:spcAft>
                <a:spcPts val="600"/>
              </a:spcAft>
            </a:pPr>
            <a:r>
              <a:rPr sz="2000" b="1">
                <a:solidFill>
                  <a:srgbClr val="1F3A5F"/>
                </a:solidFill>
                <a:latin typeface="Yu Gothic"/>
                <a:ea typeface="Yu Gothic"/>
                <a:cs typeface="Yu Gothic"/>
              </a:rPr>
              <a:t>本研究で取り組む範囲（次段階）</a:t>
            </a:r>
          </a:p>
        </p:txBody>
      </p:sp>
      <p:sp>
        <p:nvSpPr>
          <p:cNvPr id="10" name="Rounded Rectangle 9"/>
          <p:cNvSpPr/>
          <p:nvPr/>
        </p:nvSpPr>
        <p:spPr>
          <a:xfrm>
            <a:off x="640080" y="3977639"/>
            <a:ext cx="3474720" cy="146304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700" b="1">
                <a:solidFill>
                  <a:srgbClr val="0E7C86"/>
                </a:solidFill>
                <a:latin typeface="Yu Gothic"/>
                <a:ea typeface="Yu Gothic"/>
                <a:cs typeface="Yu Gothic"/>
              </a:rPr>
              <a:t>段階C：司会AIの導入</a:t>
            </a:r>
          </a:p>
          <a:p>
            <a:pPr algn="l">
              <a:spcAft>
                <a:spcPts val="500"/>
              </a:spcAft>
            </a:pPr>
            <a:r>
              <a:rPr sz="1400" b="0">
                <a:solidFill>
                  <a:srgbClr val="222222"/>
                </a:solidFill>
                <a:latin typeface="Yu Gothic"/>
                <a:ea typeface="Yu Gothic"/>
                <a:cs typeface="Yu Gothic"/>
              </a:rPr>
              <a:t>文脈に応じて次の発話者を決め、</a:t>
            </a:r>
          </a:p>
          <a:p>
            <a:pPr algn="l">
              <a:spcAft>
                <a:spcPts val="500"/>
              </a:spcAft>
            </a:pPr>
            <a:r>
              <a:rPr sz="1400" b="0">
                <a:solidFill>
                  <a:srgbClr val="222222"/>
                </a:solidFill>
                <a:latin typeface="Yu Gothic"/>
                <a:ea typeface="Yu Gothic"/>
                <a:cs typeface="Yu Gothic"/>
              </a:rPr>
              <a:t>発言の偏りを制御する</a:t>
            </a:r>
          </a:p>
        </p:txBody>
      </p:sp>
      <p:sp>
        <p:nvSpPr>
          <p:cNvPr id="11" name="Rounded Rectangle 10"/>
          <p:cNvSpPr/>
          <p:nvPr/>
        </p:nvSpPr>
        <p:spPr>
          <a:xfrm>
            <a:off x="4389119" y="3977639"/>
            <a:ext cx="3474720" cy="146304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700" b="1">
                <a:solidFill>
                  <a:srgbClr val="0E7C86"/>
                </a:solidFill>
                <a:latin typeface="Yu Gothic"/>
                <a:ea typeface="Yu Gothic"/>
                <a:cs typeface="Yu Gothic"/>
              </a:rPr>
              <a:t>役割（ペルソナ）の設計</a:t>
            </a:r>
          </a:p>
          <a:p>
            <a:pPr algn="l">
              <a:spcAft>
                <a:spcPts val="500"/>
              </a:spcAft>
            </a:pPr>
            <a:r>
              <a:rPr sz="1400" b="0">
                <a:solidFill>
                  <a:srgbClr val="222222"/>
                </a:solidFill>
                <a:latin typeface="Yu Gothic"/>
                <a:ea typeface="Yu Gothic"/>
                <a:cs typeface="Yu Gothic"/>
              </a:rPr>
              <a:t>どのような視点のAIを揃えるかは</a:t>
            </a:r>
          </a:p>
          <a:p>
            <a:pPr algn="l">
              <a:spcAft>
                <a:spcPts val="500"/>
              </a:spcAft>
            </a:pPr>
            <a:r>
              <a:rPr sz="1400" b="0">
                <a:solidFill>
                  <a:srgbClr val="222222"/>
                </a:solidFill>
                <a:latin typeface="Yu Gothic"/>
                <a:ea typeface="Yu Gothic"/>
                <a:cs typeface="Yu Gothic"/>
              </a:rPr>
              <a:t>臨床的な知見が必要</a:t>
            </a:r>
          </a:p>
        </p:txBody>
      </p:sp>
      <p:sp>
        <p:nvSpPr>
          <p:cNvPr id="12" name="Rounded Rectangle 11"/>
          <p:cNvSpPr/>
          <p:nvPr/>
        </p:nvSpPr>
        <p:spPr>
          <a:xfrm>
            <a:off x="8138158" y="3977639"/>
            <a:ext cx="3474720" cy="146304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700" b="1">
                <a:solidFill>
                  <a:srgbClr val="0E7C86"/>
                </a:solidFill>
                <a:latin typeface="Yu Gothic"/>
                <a:ea typeface="Yu Gothic"/>
                <a:cs typeface="Yu Gothic"/>
              </a:rPr>
              <a:t>通信の暗号化</a:t>
            </a:r>
          </a:p>
          <a:p>
            <a:pPr algn="l">
              <a:spcAft>
                <a:spcPts val="500"/>
              </a:spcAft>
            </a:pPr>
            <a:r>
              <a:rPr sz="1400" b="0">
                <a:solidFill>
                  <a:srgbClr val="222222"/>
                </a:solidFill>
                <a:latin typeface="Yu Gothic"/>
                <a:ea typeface="Yu Gothic"/>
                <a:cs typeface="Yu Gothic"/>
              </a:rPr>
              <a:t>実データを扱う段階では</a:t>
            </a:r>
          </a:p>
          <a:p>
            <a:pPr algn="l">
              <a:spcAft>
                <a:spcPts val="500"/>
              </a:spcAft>
            </a:pPr>
            <a:r>
              <a:rPr sz="1400" b="0">
                <a:solidFill>
                  <a:srgbClr val="222222"/>
                </a:solidFill>
                <a:latin typeface="Yu Gothic"/>
                <a:ea typeface="Yu Gothic"/>
                <a:cs typeface="Yu Gothic"/>
              </a:rPr>
              <a:t>HTTPS化が必須</a:t>
            </a:r>
          </a:p>
        </p:txBody>
      </p:sp>
      <p:sp>
        <p:nvSpPr>
          <p:cNvPr id="13" name="TextBox 12"/>
          <p:cNvSpPr txBox="1"/>
          <p:nvPr/>
        </p:nvSpPr>
        <p:spPr>
          <a:xfrm>
            <a:off x="640080" y="5623560"/>
            <a:ext cx="10881360" cy="457200"/>
          </a:xfrm>
          <a:prstGeom prst="rect">
            <a:avLst/>
          </a:prstGeom>
          <a:noFill/>
        </p:spPr>
        <p:txBody>
          <a:bodyPr wrap="square" anchor="t">
            <a:spAutoFit/>
          </a:bodyPr>
          <a:lstStyle/>
          <a:p>
            <a:pPr algn="l">
              <a:spcAft>
                <a:spcPts val="600"/>
              </a:spcAft>
            </a:pPr>
            <a:r>
              <a:rPr sz="1500" b="0">
                <a:solidFill>
                  <a:srgbClr val="595A5C"/>
                </a:solidFill>
                <a:latin typeface="Yu Gothic"/>
                <a:ea typeface="Yu Gothic"/>
                <a:cs typeface="Yu Gothic"/>
              </a:rPr>
              <a:t>中期以降は本研究の完了範囲の外にあり、発展の方向性として示している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a:lstStyle/>
          <a:p>
            <a:pPr algn="l">
              <a:spcAft>
                <a:spcPts val="600"/>
              </a:spcAft>
            </a:pPr>
            <a:r>
              <a:rPr sz="3000" b="1">
                <a:solidFill>
                  <a:srgbClr val="FFFFFF"/>
                </a:solidFill>
                <a:latin typeface="Yu Gothic"/>
                <a:ea typeface="Yu Gothic"/>
                <a:cs typeface="Yu Gothic"/>
              </a:rPr>
              <a:t>本研究の位置づけ ― 既存研究とLLMを繋ぐゲートウェイ</a:t>
            </a:r>
          </a:p>
        </p:txBody>
      </p:sp>
      <p:sp>
        <p:nvSpPr>
          <p:cNvPr id="3" name="TextBox 2"/>
          <p:cNvSpPr txBox="1"/>
          <p:nvPr/>
        </p:nvSpPr>
        <p:spPr>
          <a:xfrm>
            <a:off x="11277295" y="6355080"/>
            <a:ext cx="640080" cy="365760"/>
          </a:xfrm>
          <a:prstGeom prst="rect">
            <a:avLst/>
          </a:prstGeom>
          <a:noFill/>
        </p:spPr>
        <p:txBody>
          <a:bodyPr wrap="square" anchor="t">
            <a:spAutoFit/>
          </a:bodyPr>
          <a:lstStyle/>
          <a:p>
            <a:pPr algn="r">
              <a:spcAft>
                <a:spcPts val="600"/>
              </a:spcAft>
            </a:pPr>
            <a:r>
              <a:rPr sz="1400" b="0">
                <a:solidFill>
                  <a:srgbClr val="595A5C"/>
                </a:solidFill>
                <a:latin typeface="Yu Gothic"/>
                <a:ea typeface="Yu Gothic"/>
                <a:cs typeface="Yu Gothic"/>
              </a:rPr>
              <a:t>12</a:t>
            </a:r>
          </a:p>
        </p:txBody>
      </p:sp>
      <p:sp>
        <p:nvSpPr>
          <p:cNvPr id="4" name="TextBox 3"/>
          <p:cNvSpPr txBox="1"/>
          <p:nvPr/>
        </p:nvSpPr>
        <p:spPr>
          <a:xfrm>
            <a:off x="640080" y="960120"/>
            <a:ext cx="10881360" cy="457200"/>
          </a:xfrm>
          <a:prstGeom prst="rect">
            <a:avLst/>
          </a:prstGeom>
          <a:noFill/>
        </p:spPr>
        <p:txBody>
          <a:bodyPr wrap="square" anchor="t">
            <a:spAutoFit/>
          </a:bodyPr>
          <a:lstStyle/>
          <a:p>
            <a:pPr algn="l">
              <a:spcAft>
                <a:spcPts val="600"/>
              </a:spcAft>
            </a:pPr>
            <a:r>
              <a:rPr sz="1700" b="0">
                <a:solidFill>
                  <a:srgbClr val="595A5C"/>
                </a:solidFill>
                <a:latin typeface="Yu Gothic"/>
                <a:ea typeface="Yu Gothic"/>
                <a:cs typeface="Yu Gothic"/>
              </a:rPr>
              <a:t>研究室の既存研究はすでにLabVIEWで動いている。本研究はその共通の出口としてLLMを繋ぐ役割を担える。</a:t>
            </a:r>
          </a:p>
        </p:txBody>
      </p:sp>
      <p:sp>
        <p:nvSpPr>
          <p:cNvPr id="5" name="Rounded Rectangle 4"/>
          <p:cNvSpPr/>
          <p:nvPr/>
        </p:nvSpPr>
        <p:spPr>
          <a:xfrm>
            <a:off x="548640" y="1508760"/>
            <a:ext cx="3200400" cy="2377440"/>
          </a:xfrm>
          <a:prstGeom prst="roundRect">
            <a:avLst/>
          </a:prstGeom>
          <a:solidFill>
            <a:srgbClr val="EFF3F7"/>
          </a:solidFill>
          <a:ln w="19050">
            <a:solidFill>
              <a:srgbClr val="595A5C"/>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800" b="1">
                <a:solidFill>
                  <a:srgbClr val="595A5C"/>
                </a:solidFill>
                <a:latin typeface="Yu Gothic"/>
                <a:ea typeface="Yu Gothic"/>
                <a:cs typeface="Yu Gothic"/>
              </a:rPr>
              <a:t>松田研の既存研究</a:t>
            </a:r>
          </a:p>
          <a:p>
            <a:pPr algn="l">
              <a:spcAft>
                <a:spcPts val="500"/>
              </a:spcAft>
            </a:pPr>
            <a:r>
              <a:rPr sz="1400" b="0">
                <a:solidFill>
                  <a:srgbClr val="222222"/>
                </a:solidFill>
                <a:latin typeface="Yu Gothic"/>
                <a:ea typeface="Yu Gothic"/>
                <a:cs typeface="Yu Gothic"/>
              </a:rPr>
              <a:t>・リハビリ用デバイス</a:t>
            </a:r>
          </a:p>
          <a:p>
            <a:pPr algn="l">
              <a:spcAft>
                <a:spcPts val="500"/>
              </a:spcAft>
            </a:pPr>
            <a:r>
              <a:rPr sz="1400" b="0">
                <a:solidFill>
                  <a:srgbClr val="222222"/>
                </a:solidFill>
                <a:latin typeface="Yu Gothic"/>
                <a:ea typeface="Yu Gothic"/>
                <a:cs typeface="Yu Gothic"/>
              </a:rPr>
              <a:t>　（力覚・屈曲データ）</a:t>
            </a:r>
          </a:p>
          <a:p>
            <a:pPr algn="l">
              <a:spcAft>
                <a:spcPts val="500"/>
              </a:spcAft>
            </a:pPr>
            <a:r>
              <a:rPr sz="1400" b="0">
                <a:solidFill>
                  <a:srgbClr val="222222"/>
                </a:solidFill>
                <a:latin typeface="Yu Gothic"/>
                <a:ea typeface="Yu Gothic"/>
                <a:cs typeface="Yu Gothic"/>
              </a:rPr>
              <a:t>・ハードウェア制御</a:t>
            </a:r>
          </a:p>
          <a:p>
            <a:pPr algn="l">
              <a:spcAft>
                <a:spcPts val="500"/>
              </a:spcAft>
            </a:pPr>
            <a:r>
              <a:rPr sz="1400" b="0">
                <a:solidFill>
                  <a:srgbClr val="222222"/>
                </a:solidFill>
                <a:latin typeface="Yu Gothic"/>
                <a:ea typeface="Yu Gothic"/>
                <a:cs typeface="Yu Gothic"/>
              </a:rPr>
              <a:t>　（PWM / AD・DA変換）</a:t>
            </a:r>
          </a:p>
          <a:p>
            <a:pPr algn="l">
              <a:spcAft>
                <a:spcPts val="500"/>
              </a:spcAft>
            </a:pPr>
            <a:r>
              <a:rPr sz="1400" b="0">
                <a:solidFill>
                  <a:srgbClr val="222222"/>
                </a:solidFill>
                <a:latin typeface="Yu Gothic"/>
                <a:ea typeface="Yu Gothic"/>
                <a:cs typeface="Yu Gothic"/>
              </a:rPr>
              <a:t>・電動車椅子・計測系</a:t>
            </a:r>
          </a:p>
          <a:p>
            <a:pPr algn="l">
              <a:spcAft>
                <a:spcPts val="500"/>
              </a:spcAft>
            </a:pPr>
            <a:r>
              <a:rPr sz="1400" b="0">
                <a:solidFill>
                  <a:srgbClr val="222222"/>
                </a:solidFill>
                <a:latin typeface="Yu Gothic"/>
                <a:ea typeface="Yu Gothic"/>
                <a:cs typeface="Yu Gothic"/>
              </a:rPr>
              <a:t/>
            </a:r>
          </a:p>
          <a:p>
            <a:pPr algn="l">
              <a:spcAft>
                <a:spcPts val="500"/>
              </a:spcAft>
            </a:pPr>
            <a:r>
              <a:rPr sz="1400" b="0">
                <a:solidFill>
                  <a:srgbClr val="222222"/>
                </a:solidFill>
                <a:latin typeface="Yu Gothic"/>
                <a:ea typeface="Yu Gothic"/>
                <a:cs typeface="Yu Gothic"/>
              </a:rPr>
              <a:t>いずれもLabVIEWが窓口</a:t>
            </a:r>
          </a:p>
        </p:txBody>
      </p:sp>
      <p:sp>
        <p:nvSpPr>
          <p:cNvPr id="6" name="Rounded Rectangle 5"/>
          <p:cNvSpPr/>
          <p:nvPr/>
        </p:nvSpPr>
        <p:spPr>
          <a:xfrm>
            <a:off x="4480560" y="1508760"/>
            <a:ext cx="3291840" cy="237744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800" b="1">
                <a:solidFill>
                  <a:srgbClr val="0E7C86"/>
                </a:solidFill>
                <a:latin typeface="Yu Gothic"/>
                <a:ea typeface="Yu Gothic"/>
                <a:cs typeface="Yu Gothic"/>
              </a:rPr>
              <a:t>本研究：接続基盤</a:t>
            </a:r>
          </a:p>
          <a:p>
            <a:pPr algn="l">
              <a:spcAft>
                <a:spcPts val="500"/>
              </a:spcAft>
            </a:pPr>
            <a:r>
              <a:rPr sz="1400" b="0">
                <a:solidFill>
                  <a:srgbClr val="222222"/>
                </a:solidFill>
                <a:latin typeface="Yu Gothic"/>
                <a:ea typeface="Yu Gothic"/>
                <a:cs typeface="Yu Gothic"/>
              </a:rPr>
              <a:t>・LabVIEWから1回投げるだけ</a:t>
            </a:r>
          </a:p>
          <a:p>
            <a:pPr algn="l">
              <a:spcAft>
                <a:spcPts val="500"/>
              </a:spcAft>
            </a:pPr>
            <a:r>
              <a:rPr sz="1400" b="0">
                <a:solidFill>
                  <a:srgbClr val="222222"/>
                </a:solidFill>
                <a:latin typeface="Yu Gothic"/>
                <a:ea typeface="Yu Gothic"/>
                <a:cs typeface="Yu Gothic"/>
              </a:rPr>
              <a:t>・サーバーが会話を制御</a:t>
            </a:r>
          </a:p>
          <a:p>
            <a:pPr algn="l">
              <a:spcAft>
                <a:spcPts val="500"/>
              </a:spcAft>
            </a:pPr>
            <a:r>
              <a:rPr sz="1400" b="0">
                <a:solidFill>
                  <a:srgbClr val="222222"/>
                </a:solidFill>
                <a:latin typeface="Yu Gothic"/>
                <a:ea typeface="Yu Gothic"/>
                <a:cs typeface="Yu Gothic"/>
              </a:rPr>
              <a:t>・LabVIEW側に追加実装は不要</a:t>
            </a:r>
          </a:p>
          <a:p>
            <a:pPr algn="l">
              <a:spcAft>
                <a:spcPts val="500"/>
              </a:spcAft>
            </a:pPr>
            <a:r>
              <a:rPr sz="1400" b="0">
                <a:solidFill>
                  <a:srgbClr val="222222"/>
                </a:solidFill>
                <a:latin typeface="Yu Gothic"/>
                <a:ea typeface="Yu Gothic"/>
                <a:cs typeface="Yu Gothic"/>
              </a:rPr>
              <a:t/>
            </a:r>
          </a:p>
          <a:p>
            <a:pPr algn="l">
              <a:spcAft>
                <a:spcPts val="500"/>
              </a:spcAft>
            </a:pPr>
            <a:r>
              <a:rPr sz="1400" b="0">
                <a:solidFill>
                  <a:srgbClr val="222222"/>
                </a:solidFill>
                <a:latin typeface="Yu Gothic"/>
                <a:ea typeface="Yu Gothic"/>
                <a:cs typeface="Yu Gothic"/>
              </a:rPr>
              <a:t>計測系を作り変えずに</a:t>
            </a:r>
          </a:p>
          <a:p>
            <a:pPr algn="l">
              <a:spcAft>
                <a:spcPts val="500"/>
              </a:spcAft>
            </a:pPr>
            <a:r>
              <a:rPr sz="1400" b="0">
                <a:solidFill>
                  <a:srgbClr val="222222"/>
                </a:solidFill>
                <a:latin typeface="Yu Gothic"/>
                <a:ea typeface="Yu Gothic"/>
                <a:cs typeface="Yu Gothic"/>
              </a:rPr>
              <a:t>LLMを利用できる</a:t>
            </a:r>
          </a:p>
        </p:txBody>
      </p:sp>
      <p:sp>
        <p:nvSpPr>
          <p:cNvPr id="7" name="Rounded Rectangle 6"/>
          <p:cNvSpPr/>
          <p:nvPr/>
        </p:nvSpPr>
        <p:spPr>
          <a:xfrm>
            <a:off x="8503920" y="1508760"/>
            <a:ext cx="3108960" cy="2377440"/>
          </a:xfrm>
          <a:prstGeom prst="roundRect">
            <a:avLst/>
          </a:prstGeom>
          <a:solidFill>
            <a:srgbClr val="EFF3F7"/>
          </a:solidFill>
          <a:ln w="1905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800" b="1">
                <a:solidFill>
                  <a:srgbClr val="1F3A5F"/>
                </a:solidFill>
                <a:latin typeface="Yu Gothic"/>
                <a:ea typeface="Yu Gothic"/>
                <a:cs typeface="Yu Gothic"/>
              </a:rPr>
              <a:t>LLM / マルチエージェント</a:t>
            </a:r>
          </a:p>
          <a:p>
            <a:pPr algn="l">
              <a:spcAft>
                <a:spcPts val="500"/>
              </a:spcAft>
            </a:pPr>
            <a:r>
              <a:rPr sz="1400" b="0">
                <a:solidFill>
                  <a:srgbClr val="222222"/>
                </a:solidFill>
                <a:latin typeface="Yu Gothic"/>
                <a:ea typeface="Yu Gothic"/>
                <a:cs typeface="Yu Gothic"/>
              </a:rPr>
              <a:t>・複数AIによる対話</a:t>
            </a:r>
          </a:p>
          <a:p>
            <a:pPr algn="l">
              <a:spcAft>
                <a:spcPts val="500"/>
              </a:spcAft>
            </a:pPr>
            <a:r>
              <a:rPr sz="1400" b="0">
                <a:solidFill>
                  <a:srgbClr val="222222"/>
                </a:solidFill>
                <a:latin typeface="Yu Gothic"/>
                <a:ea typeface="Yu Gothic"/>
                <a:cs typeface="Yu Gothic"/>
              </a:rPr>
              <a:t>・主観情報の引き出し</a:t>
            </a:r>
          </a:p>
          <a:p>
            <a:pPr algn="l">
              <a:spcAft>
                <a:spcPts val="500"/>
              </a:spcAft>
            </a:pPr>
            <a:r>
              <a:rPr sz="1400" b="0">
                <a:solidFill>
                  <a:srgbClr val="222222"/>
                </a:solidFill>
                <a:latin typeface="Yu Gothic"/>
                <a:ea typeface="Yu Gothic"/>
                <a:cs typeface="Yu Gothic"/>
              </a:rPr>
              <a:t>・司会AIによる発言順の制御</a:t>
            </a:r>
          </a:p>
          <a:p>
            <a:pPr algn="l">
              <a:spcAft>
                <a:spcPts val="500"/>
              </a:spcAft>
            </a:pPr>
            <a:r>
              <a:rPr sz="1400" b="0">
                <a:solidFill>
                  <a:srgbClr val="222222"/>
                </a:solidFill>
                <a:latin typeface="Yu Gothic"/>
                <a:ea typeface="Yu Gothic"/>
                <a:cs typeface="Yu Gothic"/>
              </a:rPr>
              <a:t/>
            </a:r>
          </a:p>
          <a:p>
            <a:pPr algn="l">
              <a:spcAft>
                <a:spcPts val="500"/>
              </a:spcAft>
            </a:pPr>
            <a:r>
              <a:rPr sz="1400" b="0">
                <a:solidFill>
                  <a:srgbClr val="222222"/>
                </a:solidFill>
                <a:latin typeface="Yu Gothic"/>
                <a:ea typeface="Yu Gothic"/>
                <a:cs typeface="Yu Gothic"/>
              </a:rPr>
              <a:t>（外部API / 将来は院内）</a:t>
            </a:r>
          </a:p>
        </p:txBody>
      </p:sp>
      <p:sp>
        <p:nvSpPr>
          <p:cNvPr id="8" name="Right Arrow 7"/>
          <p:cNvSpPr/>
          <p:nvPr/>
        </p:nvSpPr>
        <p:spPr>
          <a:xfrm>
            <a:off x="3886200" y="2468880"/>
            <a:ext cx="502920" cy="411480"/>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7909560" y="2468880"/>
            <a:ext cx="502920" cy="411480"/>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4160520"/>
            <a:ext cx="11064240" cy="100584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700" b="0">
                <a:solidFill>
                  <a:srgbClr val="C8DAE6"/>
                </a:solidFill>
                <a:latin typeface="Yu Gothic"/>
                <a:ea typeface="Yu Gothic"/>
                <a:cs typeface="Yu Gothic"/>
              </a:rPr>
              <a:t>本研究の価値は、LLMを使ったこと自体ではなく</a:t>
            </a:r>
          </a:p>
          <a:p>
            <a:pPr algn="ctr">
              <a:spcAft>
                <a:spcPts val="600"/>
              </a:spcAft>
            </a:pPr>
            <a:r>
              <a:rPr sz="2300" b="1">
                <a:solidFill>
                  <a:srgbClr val="FFFFFF"/>
                </a:solidFill>
                <a:latin typeface="Yu Gothic"/>
                <a:ea typeface="Yu Gothic"/>
                <a:cs typeface="Yu Gothic"/>
              </a:rPr>
              <a:t>研究室の様々な研究にLLMを挿せる土台を作ったことにある</a:t>
            </a:r>
          </a:p>
        </p:txBody>
      </p:sp>
      <p:sp>
        <p:nvSpPr>
          <p:cNvPr id="11" name="TextBox 10"/>
          <p:cNvSpPr txBox="1"/>
          <p:nvPr/>
        </p:nvSpPr>
        <p:spPr>
          <a:xfrm>
            <a:off x="548640" y="5349240"/>
            <a:ext cx="11064240" cy="548640"/>
          </a:xfrm>
          <a:prstGeom prst="rect">
            <a:avLst/>
          </a:prstGeom>
          <a:noFill/>
        </p:spPr>
        <p:txBody>
          <a:bodyPr wrap="square" anchor="t">
            <a:spAutoFit/>
          </a:bodyPr>
          <a:lstStyle/>
          <a:p>
            <a:pPr algn="ctr">
              <a:spcAft>
                <a:spcPts val="600"/>
              </a:spcAft>
            </a:pPr>
            <a:r>
              <a:rPr sz="1500" b="0">
                <a:solidFill>
                  <a:srgbClr val="C0392B"/>
                </a:solidFill>
                <a:latin typeface="Yu Gothic"/>
                <a:ea typeface="Yu Gothic"/>
                <a:cs typeface="Yu Gothic"/>
              </a:rPr>
              <a:t>※ センサーデータとの統合は中期の目標。本研究の完了範囲は接続基盤の構築まで。</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468880"/>
            <a:ext cx="12191695" cy="19202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4000" b="1">
                <a:solidFill>
                  <a:srgbClr val="FFFFFF"/>
                </a:solidFill>
                <a:latin typeface="Yu Gothic"/>
                <a:ea typeface="Yu Gothic"/>
                <a:cs typeface="Yu Gothic"/>
              </a:rPr>
              <a:t>ご清聴ありがとうございました</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a:lstStyle/>
          <a:p>
            <a:pPr algn="l">
              <a:spcAft>
                <a:spcPts val="600"/>
              </a:spcAft>
            </a:pPr>
            <a:r>
              <a:rPr sz="3000" b="1">
                <a:solidFill>
                  <a:srgbClr val="FFFFFF"/>
                </a:solidFill>
                <a:latin typeface="Yu Gothic"/>
                <a:ea typeface="Yu Gothic"/>
                <a:cs typeface="Yu Gothic"/>
              </a:rPr>
              <a:t>補足資料</a:t>
            </a:r>
          </a:p>
        </p:txBody>
      </p:sp>
      <p:sp>
        <p:nvSpPr>
          <p:cNvPr id="3" name="TextBox 2"/>
          <p:cNvSpPr txBox="1"/>
          <p:nvPr/>
        </p:nvSpPr>
        <p:spPr>
          <a:xfrm>
            <a:off x="731520" y="1463040"/>
            <a:ext cx="10698480" cy="4114800"/>
          </a:xfrm>
          <a:prstGeom prst="rect">
            <a:avLst/>
          </a:prstGeom>
          <a:noFill/>
        </p:spPr>
        <p:txBody>
          <a:bodyPr wrap="square" anchor="t">
            <a:spAutoFit/>
          </a:bodyPr>
          <a:lstStyle/>
          <a:p>
            <a:pPr algn="l">
              <a:spcAft>
                <a:spcPts val="1400"/>
              </a:spcAft>
            </a:pPr>
            <a:r>
              <a:rPr sz="2200" b="0">
                <a:solidFill>
                  <a:srgbClr val="1F3A5F"/>
                </a:solidFill>
                <a:latin typeface="Yu Gothic"/>
                <a:ea typeface="Yu Gothic"/>
                <a:cs typeface="Yu Gothic"/>
              </a:rPr>
              <a:t>補1．JSON の具体例</a:t>
            </a:r>
          </a:p>
          <a:p>
            <a:pPr algn="l">
              <a:spcAft>
                <a:spcPts val="1400"/>
              </a:spcAft>
            </a:pPr>
            <a:r>
              <a:rPr sz="2200" b="0">
                <a:solidFill>
                  <a:srgbClr val="1F3A5F"/>
                </a:solidFill>
                <a:latin typeface="Yu Gothic"/>
                <a:ea typeface="Yu Gothic"/>
                <a:cs typeface="Yu Gothic"/>
              </a:rPr>
              <a:t>補2．自作部分と OSS の線引き</a:t>
            </a:r>
          </a:p>
          <a:p>
            <a:pPr algn="l">
              <a:spcAft>
                <a:spcPts val="1400"/>
              </a:spcAft>
            </a:pPr>
            <a:r>
              <a:rPr sz="2200" b="0">
                <a:solidFill>
                  <a:srgbClr val="1F3A5F"/>
                </a:solidFill>
                <a:latin typeface="Yu Gothic"/>
                <a:ea typeface="Yu Gothic"/>
                <a:cs typeface="Yu Gothic"/>
              </a:rPr>
              <a:t>補3．発言順の制御</a:t>
            </a:r>
          </a:p>
          <a:p>
            <a:pPr algn="l">
              <a:spcAft>
                <a:spcPts val="1400"/>
              </a:spcAft>
            </a:pPr>
            <a:r>
              <a:rPr sz="2200" b="0">
                <a:solidFill>
                  <a:srgbClr val="1F3A5F"/>
                </a:solidFill>
                <a:latin typeface="Yu Gothic"/>
                <a:ea typeface="Yu Gothic"/>
                <a:cs typeface="Yu Gothic"/>
              </a:rPr>
              <a:t>補4．堅牢性への配慮</a:t>
            </a:r>
          </a:p>
          <a:p>
            <a:pPr algn="l">
              <a:spcAft>
                <a:spcPts val="1400"/>
              </a:spcAft>
            </a:pPr>
            <a:r>
              <a:rPr sz="2200" b="0">
                <a:solidFill>
                  <a:srgbClr val="1F3A5F"/>
                </a:solidFill>
                <a:latin typeface="Yu Gothic"/>
                <a:ea typeface="Yu Gothic"/>
                <a:cs typeface="Yu Gothic"/>
              </a:rPr>
              <a:t>補5．開発体制</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a:lstStyle/>
          <a:p>
            <a:pPr algn="l">
              <a:spcAft>
                <a:spcPts val="600"/>
              </a:spcAft>
            </a:pPr>
            <a:r>
              <a:rPr sz="3000" b="1">
                <a:solidFill>
                  <a:srgbClr val="FFFFFF"/>
                </a:solidFill>
                <a:latin typeface="Yu Gothic"/>
                <a:ea typeface="Yu Gothic"/>
                <a:cs typeface="Yu Gothic"/>
              </a:rPr>
              <a:t>補1．JSON の具体例</a:t>
            </a:r>
          </a:p>
        </p:txBody>
      </p:sp>
      <p:sp>
        <p:nvSpPr>
          <p:cNvPr id="3" name="Rounded Rectangle 2"/>
          <p:cNvSpPr/>
          <p:nvPr/>
        </p:nvSpPr>
        <p:spPr>
          <a:xfrm>
            <a:off x="640080" y="1188720"/>
            <a:ext cx="5394960" cy="219456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700" b="1">
                <a:solidFill>
                  <a:srgbClr val="0E7C86"/>
                </a:solidFill>
                <a:latin typeface="Yu Gothic"/>
                <a:ea typeface="Yu Gothic"/>
                <a:cs typeface="Yu Gothic"/>
              </a:rPr>
              <a:t>リクエスト（LabVIEW → サーバー）</a:t>
            </a:r>
          </a:p>
          <a:p>
            <a:pPr algn="l">
              <a:spcAft>
                <a:spcPts val="500"/>
              </a:spcAft>
            </a:pPr>
            <a:r>
              <a:rPr sz="1400" b="0">
                <a:solidFill>
                  <a:srgbClr val="222222"/>
                </a:solidFill>
                <a:latin typeface="Yu Gothic"/>
                <a:ea typeface="Yu Gothic"/>
                <a:cs typeface="Yu Gothic"/>
              </a:rPr>
              <a:t>{</a:t>
            </a:r>
          </a:p>
          <a:p>
            <a:pPr algn="l">
              <a:spcAft>
                <a:spcPts val="500"/>
              </a:spcAft>
            </a:pPr>
            <a:r>
              <a:rPr sz="1400" b="0">
                <a:solidFill>
                  <a:srgbClr val="222222"/>
                </a:solidFill>
                <a:latin typeface="Yu Gothic"/>
                <a:ea typeface="Yu Gothic"/>
                <a:cs typeface="Yu Gothic"/>
              </a:rPr>
              <a:t>  "text": "リハビリを終えました…",</a:t>
            </a:r>
          </a:p>
          <a:p>
            <a:pPr algn="l">
              <a:spcAft>
                <a:spcPts val="500"/>
              </a:spcAft>
            </a:pPr>
            <a:r>
              <a:rPr sz="1400" b="0">
                <a:solidFill>
                  <a:srgbClr val="222222"/>
                </a:solidFill>
                <a:latin typeface="Yu Gothic"/>
                <a:ea typeface="Yu Gothic"/>
                <a:cs typeface="Yu Gothic"/>
              </a:rPr>
              <a:t>  "agentIds": ["alpha","beta","gamma"],</a:t>
            </a:r>
          </a:p>
          <a:p>
            <a:pPr algn="l">
              <a:spcAft>
                <a:spcPts val="500"/>
              </a:spcAft>
            </a:pPr>
            <a:r>
              <a:rPr sz="1400" b="0">
                <a:solidFill>
                  <a:srgbClr val="222222"/>
                </a:solidFill>
                <a:latin typeface="Yu Gothic"/>
                <a:ea typeface="Yu Gothic"/>
                <a:cs typeface="Yu Gothic"/>
              </a:rPr>
              <a:t>  "rounds": 1</a:t>
            </a:r>
          </a:p>
          <a:p>
            <a:pPr algn="l">
              <a:spcAft>
                <a:spcPts val="500"/>
              </a:spcAft>
            </a:pPr>
            <a:r>
              <a:rPr sz="1400" b="0">
                <a:solidFill>
                  <a:srgbClr val="222222"/>
                </a:solidFill>
                <a:latin typeface="Yu Gothic"/>
                <a:ea typeface="Yu Gothic"/>
                <a:cs typeface="Yu Gothic"/>
              </a:rPr>
              <a:t>}</a:t>
            </a:r>
          </a:p>
        </p:txBody>
      </p:sp>
      <p:sp>
        <p:nvSpPr>
          <p:cNvPr id="4" name="Rounded Rectangle 3"/>
          <p:cNvSpPr/>
          <p:nvPr/>
        </p:nvSpPr>
        <p:spPr>
          <a:xfrm>
            <a:off x="6309360" y="1188720"/>
            <a:ext cx="5212080" cy="219456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700" b="1">
                <a:solidFill>
                  <a:srgbClr val="0E7C86"/>
                </a:solidFill>
                <a:latin typeface="Yu Gothic"/>
                <a:ea typeface="Yu Gothic"/>
                <a:cs typeface="Yu Gothic"/>
              </a:rPr>
              <a:t>レスポンス（サーバー → LabVIEW）</a:t>
            </a:r>
          </a:p>
          <a:p>
            <a:pPr algn="l">
              <a:spcAft>
                <a:spcPts val="500"/>
              </a:spcAft>
            </a:pPr>
            <a:r>
              <a:rPr sz="1400" b="0">
                <a:solidFill>
                  <a:srgbClr val="222222"/>
                </a:solidFill>
                <a:latin typeface="Yu Gothic"/>
                <a:ea typeface="Yu Gothic"/>
                <a:cs typeface="Yu Gothic"/>
              </a:rPr>
              <a:t>{</a:t>
            </a:r>
          </a:p>
          <a:p>
            <a:pPr algn="l">
              <a:spcAft>
                <a:spcPts val="500"/>
              </a:spcAft>
            </a:pPr>
            <a:r>
              <a:rPr sz="1400" b="0">
                <a:solidFill>
                  <a:srgbClr val="222222"/>
                </a:solidFill>
                <a:latin typeface="Yu Gothic"/>
                <a:ea typeface="Yu Gothic"/>
                <a:cs typeface="Yu Gothic"/>
              </a:rPr>
              <a:t>  "ok": true,</a:t>
            </a:r>
          </a:p>
          <a:p>
            <a:pPr algn="l">
              <a:spcAft>
                <a:spcPts val="500"/>
              </a:spcAft>
            </a:pPr>
            <a:r>
              <a:rPr sz="1400" b="0">
                <a:solidFill>
                  <a:srgbClr val="222222"/>
                </a:solidFill>
                <a:latin typeface="Yu Gothic"/>
                <a:ea typeface="Yu Gothic"/>
                <a:cs typeface="Yu Gothic"/>
              </a:rPr>
              <a:t>  "transcript": "Alpha: …\nBeta: …",</a:t>
            </a:r>
          </a:p>
          <a:p>
            <a:pPr algn="l">
              <a:spcAft>
                <a:spcPts val="500"/>
              </a:spcAft>
            </a:pPr>
            <a:r>
              <a:rPr sz="1400" b="0">
                <a:solidFill>
                  <a:srgbClr val="222222"/>
                </a:solidFill>
                <a:latin typeface="Yu Gothic"/>
                <a:ea typeface="Yu Gothic"/>
                <a:cs typeface="Yu Gothic"/>
              </a:rPr>
              <a:t>  "error": ""</a:t>
            </a:r>
          </a:p>
          <a:p>
            <a:pPr algn="l">
              <a:spcAft>
                <a:spcPts val="500"/>
              </a:spcAft>
            </a:pPr>
            <a:r>
              <a:rPr sz="1400" b="0">
                <a:solidFill>
                  <a:srgbClr val="222222"/>
                </a:solidFill>
                <a:latin typeface="Yu Gothic"/>
                <a:ea typeface="Yu Gothic"/>
                <a:cs typeface="Yu Gothic"/>
              </a:rPr>
              <a:t>}</a:t>
            </a:r>
          </a:p>
        </p:txBody>
      </p:sp>
      <p:sp>
        <p:nvSpPr>
          <p:cNvPr id="5" name="TextBox 4"/>
          <p:cNvSpPr txBox="1"/>
          <p:nvPr/>
        </p:nvSpPr>
        <p:spPr>
          <a:xfrm>
            <a:off x="640080" y="3657600"/>
            <a:ext cx="10881360" cy="2194560"/>
          </a:xfrm>
          <a:prstGeom prst="rect">
            <a:avLst/>
          </a:prstGeom>
          <a:noFill/>
        </p:spPr>
        <p:txBody>
          <a:bodyPr wrap="square" anchor="t">
            <a:spAutoFit/>
          </a:bodyPr>
          <a:lstStyle/>
          <a:p>
            <a:pPr algn="l">
              <a:spcAft>
                <a:spcPts val="1000"/>
              </a:spcAft>
            </a:pPr>
            <a:r>
              <a:rPr sz="2000" b="1">
                <a:solidFill>
                  <a:srgbClr val="1F3A5F"/>
                </a:solidFill>
                <a:latin typeface="Yu Gothic"/>
                <a:ea typeface="Yu Gothic"/>
                <a:cs typeface="Yu Gothic"/>
              </a:rPr>
              <a:t>設計上の要点</a:t>
            </a:r>
          </a:p>
          <a:p>
            <a:pPr algn="l">
              <a:spcAft>
                <a:spcPts val="800"/>
              </a:spcAft>
            </a:pPr>
            <a:r>
              <a:rPr sz="1700" b="0">
                <a:latin typeface="Yu Gothic"/>
                <a:ea typeface="Yu Gothic"/>
                <a:cs typeface="Yu Gothic"/>
              </a:rPr>
              <a:t>・入れ子にしない。LabVIEWのクラスタのラベル名とキー名が1対1で対応する</a:t>
            </a:r>
          </a:p>
          <a:p>
            <a:pPr algn="l">
              <a:spcAft>
                <a:spcPts val="800"/>
              </a:spcAft>
            </a:pPr>
            <a:r>
              <a:rPr sz="1700" b="0">
                <a:latin typeface="Yu Gothic"/>
                <a:ea typeface="Yu Gothic"/>
                <a:cs typeface="Yu Gothic"/>
              </a:rPr>
              <a:t>・エラー時もHTTPは200を返す。成否は ok で判定するためCase Structureが1つで済む</a:t>
            </a:r>
          </a:p>
          <a:p>
            <a:pPr algn="l">
              <a:spcAft>
                <a:spcPts val="800"/>
              </a:spcAft>
            </a:pPr>
            <a:r>
              <a:rPr sz="1700" b="0">
                <a:latin typeface="Yu Gothic"/>
                <a:ea typeface="Yu Gothic"/>
                <a:cs typeface="Yu Gothic"/>
              </a:rPr>
              <a:t>・発言の配列も返しているが、連結済みの transcript だけでも会話全体を表示できる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a:lstStyle/>
          <a:p>
            <a:pPr algn="l">
              <a:spcAft>
                <a:spcPts val="600"/>
              </a:spcAft>
            </a:pPr>
            <a:r>
              <a:rPr sz="3000" b="1">
                <a:solidFill>
                  <a:srgbClr val="FFFFFF"/>
                </a:solidFill>
                <a:latin typeface="Yu Gothic"/>
                <a:ea typeface="Yu Gothic"/>
                <a:cs typeface="Yu Gothic"/>
              </a:rPr>
              <a:t>補2．自作部分と OSS の線引き</a:t>
            </a:r>
          </a:p>
        </p:txBody>
      </p:sp>
      <p:graphicFrame>
        <p:nvGraphicFramePr>
          <p:cNvPr id="3" name="Table 2"/>
          <p:cNvGraphicFramePr>
            <a:graphicFrameLocks noGrp="1"/>
          </p:cNvGraphicFramePr>
          <p:nvPr/>
        </p:nvGraphicFramePr>
        <p:xfrm>
          <a:off x="731520" y="1234440"/>
          <a:ext cx="10698480" cy="3749040"/>
        </p:xfrm>
        <a:graphic>
          <a:graphicData uri="http://schemas.openxmlformats.org/drawingml/2006/table">
            <a:tbl>
              <a:tblPr firstRow="1" bandRow="1">
                <a:tableStyleId>{5C22544A-7EE6-4342-B048-85BDC9FD1C3A}</a:tableStyleId>
              </a:tblPr>
              <a:tblGrid>
                <a:gridCol w="3291840"/>
                <a:gridCol w="4937760"/>
                <a:gridCol w="2468880"/>
              </a:tblGrid>
              <a:tr h="457200">
                <a:tc>
                  <a:txBody>
                    <a:bodyPr wrap="square"/>
                    <a:lstStyle/>
                    <a:p>
                      <a:pPr algn="l">
                        <a:spcAft>
                          <a:spcPts val="0"/>
                        </a:spcAft>
                      </a:pPr>
                      <a:r>
                        <a:rPr sz="1700" b="1">
                          <a:solidFill>
                            <a:srgbClr val="FFFFFF"/>
                          </a:solidFill>
                          <a:latin typeface="Yu Gothic"/>
                          <a:ea typeface="Yu Gothic"/>
                          <a:cs typeface="Yu Gothic"/>
                        </a:rPr>
                        <a:t>レイヤ</a:t>
                      </a:r>
                    </a:p>
                  </a:txBody>
                  <a:tcPr marL="91440" marR="91440" anchor="ctr">
                    <a:solidFill>
                      <a:srgbClr val="1F3A5F"/>
                    </a:solidFill>
                  </a:tcPr>
                </a:tc>
                <a:tc>
                  <a:txBody>
                    <a:bodyPr wrap="square"/>
                    <a:lstStyle/>
                    <a:p>
                      <a:pPr algn="l">
                        <a:spcAft>
                          <a:spcPts val="0"/>
                        </a:spcAft>
                      </a:pPr>
                      <a:r>
                        <a:rPr sz="1700" b="1">
                          <a:solidFill>
                            <a:srgbClr val="FFFFFF"/>
                          </a:solidFill>
                          <a:latin typeface="Yu Gothic"/>
                          <a:ea typeface="Yu Gothic"/>
                          <a:cs typeface="Yu Gothic"/>
                        </a:rPr>
                        <a:t>使用技術</a:t>
                      </a:r>
                    </a:p>
                  </a:txBody>
                  <a:tcPr marL="91440" marR="91440" anchor="ctr">
                    <a:solidFill>
                      <a:srgbClr val="1F3A5F"/>
                    </a:solidFill>
                  </a:tcPr>
                </a:tc>
                <a:tc>
                  <a:txBody>
                    <a:bodyPr wrap="square"/>
                    <a:lstStyle/>
                    <a:p>
                      <a:pPr algn="l">
                        <a:spcAft>
                          <a:spcPts val="0"/>
                        </a:spcAft>
                      </a:pPr>
                      <a:r>
                        <a:rPr sz="1700" b="1">
                          <a:solidFill>
                            <a:srgbClr val="FFFFFF"/>
                          </a:solidFill>
                          <a:latin typeface="Yu Gothic"/>
                          <a:ea typeface="Yu Gothic"/>
                          <a:cs typeface="Yu Gothic"/>
                        </a:rPr>
                        <a:t>区分</a:t>
                      </a:r>
                    </a:p>
                  </a:txBody>
                  <a:tcPr marL="91440" marR="91440" anchor="ctr">
                    <a:solidFill>
                      <a:srgbClr val="1F3A5F"/>
                    </a:solidFill>
                  </a:tcPr>
                </a:tc>
              </a:tr>
              <a:tr h="658368">
                <a:tc>
                  <a:txBody>
                    <a:bodyPr wrap="square"/>
                    <a:lstStyle/>
                    <a:p>
                      <a:pPr algn="l">
                        <a:spcAft>
                          <a:spcPts val="0"/>
                        </a:spcAft>
                      </a:pPr>
                      <a:r>
                        <a:rPr sz="1600" b="0">
                          <a:solidFill>
                            <a:srgbClr val="222222"/>
                          </a:solidFill>
                          <a:latin typeface="Yu Gothic"/>
                          <a:ea typeface="Yu Gothic"/>
                          <a:cs typeface="Yu Gothic"/>
                        </a:rPr>
                        <a:t>LabVIEW側 VI</a:t>
                      </a:r>
                    </a:p>
                  </a:txBody>
                  <a:tcPr marL="91440" marR="91440" anchor="ctr">
                    <a:solidFill>
                      <a:srgbClr val="FFFFFF"/>
                    </a:solidFill>
                  </a:tcPr>
                </a:tc>
                <a:tc>
                  <a:txBody>
                    <a:bodyPr wrap="square"/>
                    <a:lstStyle/>
                    <a:p>
                      <a:pPr algn="l">
                        <a:spcAft>
                          <a:spcPts val="0"/>
                        </a:spcAft>
                      </a:pPr>
                      <a:r>
                        <a:rPr sz="1600" b="0">
                          <a:solidFill>
                            <a:srgbClr val="222222"/>
                          </a:solidFill>
                          <a:latin typeface="Yu Gothic"/>
                          <a:ea typeface="Yu Gothic"/>
                          <a:cs typeface="Yu Gothic"/>
                        </a:rPr>
                        <a:t>LabVIEW標準（HTTP Client VIs / JSON VIs）</a:t>
                      </a:r>
                    </a:p>
                  </a:txBody>
                  <a:tcPr marL="91440" marR="91440" anchor="ctr">
                    <a:solidFill>
                      <a:srgbClr val="FFFFFF"/>
                    </a:solidFill>
                  </a:tcPr>
                </a:tc>
                <a:tc>
                  <a:txBody>
                    <a:bodyPr wrap="square"/>
                    <a:lstStyle/>
                    <a:p>
                      <a:pPr algn="l">
                        <a:spcAft>
                          <a:spcPts val="0"/>
                        </a:spcAft>
                      </a:pPr>
                      <a:r>
                        <a:rPr sz="1600" b="0">
                          <a:solidFill>
                            <a:srgbClr val="222222"/>
                          </a:solidFill>
                          <a:latin typeface="Yu Gothic"/>
                          <a:ea typeface="Yu Gothic"/>
                          <a:cs typeface="Yu Gothic"/>
                        </a:rPr>
                        <a:t>自作VI</a:t>
                      </a:r>
                    </a:p>
                  </a:txBody>
                  <a:tcPr marL="91440" marR="91440" anchor="ctr">
                    <a:solidFill>
                      <a:srgbClr val="FFFFFF"/>
                    </a:solidFill>
                  </a:tcPr>
                </a:tc>
              </a:tr>
              <a:tr h="658368">
                <a:tc>
                  <a:txBody>
                    <a:bodyPr wrap="square"/>
                    <a:lstStyle/>
                    <a:p>
                      <a:pPr algn="l">
                        <a:spcAft>
                          <a:spcPts val="0"/>
                        </a:spcAft>
                      </a:pPr>
                      <a:r>
                        <a:rPr sz="1600" b="0">
                          <a:solidFill>
                            <a:srgbClr val="222222"/>
                          </a:solidFill>
                          <a:latin typeface="Yu Gothic"/>
                          <a:ea typeface="Yu Gothic"/>
                          <a:cs typeface="Yu Gothic"/>
                        </a:rPr>
                        <a:t>実行環境</a:t>
                      </a:r>
                    </a:p>
                  </a:txBody>
                  <a:tcPr marL="91440" marR="91440" anchor="ctr">
                    <a:solidFill>
                      <a:srgbClr val="EFF3F7"/>
                    </a:solidFill>
                  </a:tcPr>
                </a:tc>
                <a:tc>
                  <a:txBody>
                    <a:bodyPr wrap="square"/>
                    <a:lstStyle/>
                    <a:p>
                      <a:pPr algn="l">
                        <a:spcAft>
                          <a:spcPts val="0"/>
                        </a:spcAft>
                      </a:pPr>
                      <a:r>
                        <a:rPr sz="1600" b="0">
                          <a:solidFill>
                            <a:srgbClr val="222222"/>
                          </a:solidFill>
                          <a:latin typeface="Yu Gothic"/>
                          <a:ea typeface="Yu Gothic"/>
                          <a:cs typeface="Yu Gothic"/>
                        </a:rPr>
                        <a:t>Docker</a:t>
                      </a:r>
                    </a:p>
                  </a:txBody>
                  <a:tcPr marL="91440" marR="91440" anchor="ctr">
                    <a:solidFill>
                      <a:srgbClr val="EFF3F7"/>
                    </a:solidFill>
                  </a:tcPr>
                </a:tc>
                <a:tc>
                  <a:txBody>
                    <a:bodyPr wrap="square"/>
                    <a:lstStyle/>
                    <a:p>
                      <a:pPr algn="l">
                        <a:spcAft>
                          <a:spcPts val="0"/>
                        </a:spcAft>
                      </a:pPr>
                      <a:r>
                        <a:rPr sz="1600" b="0">
                          <a:solidFill>
                            <a:srgbClr val="222222"/>
                          </a:solidFill>
                          <a:latin typeface="Yu Gothic"/>
                          <a:ea typeface="Yu Gothic"/>
                          <a:cs typeface="Yu Gothic"/>
                        </a:rPr>
                        <a:t>OSS</a:t>
                      </a:r>
                    </a:p>
                  </a:txBody>
                  <a:tcPr marL="91440" marR="91440" anchor="ctr">
                    <a:solidFill>
                      <a:srgbClr val="EFF3F7"/>
                    </a:solidFill>
                  </a:tcPr>
                </a:tc>
              </a:tr>
              <a:tr h="658368">
                <a:tc>
                  <a:txBody>
                    <a:bodyPr wrap="square"/>
                    <a:lstStyle/>
                    <a:p>
                      <a:pPr algn="l">
                        <a:spcAft>
                          <a:spcPts val="0"/>
                        </a:spcAft>
                      </a:pPr>
                      <a:r>
                        <a:rPr sz="1600" b="0">
                          <a:solidFill>
                            <a:srgbClr val="222222"/>
                          </a:solidFill>
                          <a:latin typeface="Yu Gothic"/>
                          <a:ea typeface="Yu Gothic"/>
                          <a:cs typeface="Yu Gothic"/>
                        </a:rPr>
                        <a:t>Webフレームワーク・言語</a:t>
                      </a:r>
                    </a:p>
                  </a:txBody>
                  <a:tcPr marL="91440" marR="91440" anchor="ctr">
                    <a:solidFill>
                      <a:srgbClr val="FFFFFF"/>
                    </a:solidFill>
                  </a:tcPr>
                </a:tc>
                <a:tc>
                  <a:txBody>
                    <a:bodyPr wrap="square"/>
                    <a:lstStyle/>
                    <a:p>
                      <a:pPr algn="l">
                        <a:spcAft>
                          <a:spcPts val="0"/>
                        </a:spcAft>
                      </a:pPr>
                      <a:r>
                        <a:rPr sz="1600" b="0">
                          <a:solidFill>
                            <a:srgbClr val="222222"/>
                          </a:solidFill>
                          <a:latin typeface="Yu Gothic"/>
                          <a:ea typeface="Yu Gothic"/>
                          <a:cs typeface="Yu Gothic"/>
                        </a:rPr>
                        <a:t>Next.js / TypeScript / Node.js</a:t>
                      </a:r>
                    </a:p>
                  </a:txBody>
                  <a:tcPr marL="91440" marR="91440" anchor="ctr">
                    <a:solidFill>
                      <a:srgbClr val="FFFFFF"/>
                    </a:solidFill>
                  </a:tcPr>
                </a:tc>
                <a:tc>
                  <a:txBody>
                    <a:bodyPr wrap="square"/>
                    <a:lstStyle/>
                    <a:p>
                      <a:pPr algn="l">
                        <a:spcAft>
                          <a:spcPts val="0"/>
                        </a:spcAft>
                      </a:pPr>
                      <a:r>
                        <a:rPr sz="1600" b="0">
                          <a:solidFill>
                            <a:srgbClr val="222222"/>
                          </a:solidFill>
                          <a:latin typeface="Yu Gothic"/>
                          <a:ea typeface="Yu Gothic"/>
                          <a:cs typeface="Yu Gothic"/>
                        </a:rPr>
                        <a:t>OSS</a:t>
                      </a:r>
                    </a:p>
                  </a:txBody>
                  <a:tcPr marL="91440" marR="91440" anchor="ctr">
                    <a:solidFill>
                      <a:srgbClr val="FFFFFF"/>
                    </a:solidFill>
                  </a:tcPr>
                </a:tc>
              </a:tr>
              <a:tr h="658368">
                <a:tc>
                  <a:txBody>
                    <a:bodyPr wrap="square"/>
                    <a:lstStyle/>
                    <a:p>
                      <a:pPr algn="l">
                        <a:spcAft>
                          <a:spcPts val="0"/>
                        </a:spcAft>
                      </a:pPr>
                      <a:r>
                        <a:rPr sz="1600" b="0">
                          <a:solidFill>
                            <a:srgbClr val="222222"/>
                          </a:solidFill>
                          <a:latin typeface="Yu Gothic"/>
                          <a:ea typeface="Yu Gothic"/>
                          <a:cs typeface="Yu Gothic"/>
                        </a:rPr>
                        <a:t>LLM接続</a:t>
                      </a:r>
                    </a:p>
                  </a:txBody>
                  <a:tcPr marL="91440" marR="91440" anchor="ctr">
                    <a:solidFill>
                      <a:srgbClr val="EFF3F7"/>
                    </a:solidFill>
                  </a:tcPr>
                </a:tc>
                <a:tc>
                  <a:txBody>
                    <a:bodyPr wrap="square"/>
                    <a:lstStyle/>
                    <a:p>
                      <a:pPr algn="l">
                        <a:spcAft>
                          <a:spcPts val="0"/>
                        </a:spcAft>
                      </a:pPr>
                      <a:r>
                        <a:rPr sz="1600" b="0">
                          <a:solidFill>
                            <a:srgbClr val="222222"/>
                          </a:solidFill>
                          <a:latin typeface="Yu Gothic"/>
                          <a:ea typeface="Yu Gothic"/>
                          <a:cs typeface="Yu Gothic"/>
                        </a:rPr>
                        <a:t>各社公式SDK</a:t>
                      </a:r>
                    </a:p>
                  </a:txBody>
                  <a:tcPr marL="91440" marR="91440" anchor="ctr">
                    <a:solidFill>
                      <a:srgbClr val="EFF3F7"/>
                    </a:solidFill>
                  </a:tcPr>
                </a:tc>
                <a:tc>
                  <a:txBody>
                    <a:bodyPr wrap="square"/>
                    <a:lstStyle/>
                    <a:p>
                      <a:pPr algn="l">
                        <a:spcAft>
                          <a:spcPts val="0"/>
                        </a:spcAft>
                      </a:pPr>
                      <a:r>
                        <a:rPr sz="1600" b="0">
                          <a:solidFill>
                            <a:srgbClr val="222222"/>
                          </a:solidFill>
                          <a:latin typeface="Yu Gothic"/>
                          <a:ea typeface="Yu Gothic"/>
                          <a:cs typeface="Yu Gothic"/>
                        </a:rPr>
                        <a:t>OSS</a:t>
                      </a:r>
                    </a:p>
                  </a:txBody>
                  <a:tcPr marL="91440" marR="91440" anchor="ctr">
                    <a:solidFill>
                      <a:srgbClr val="EFF3F7"/>
                    </a:solidFill>
                  </a:tcPr>
                </a:tc>
              </a:tr>
              <a:tr h="658368">
                <a:tc>
                  <a:txBody>
                    <a:bodyPr wrap="square"/>
                    <a:lstStyle/>
                    <a:p>
                      <a:pPr algn="l">
                        <a:spcAft>
                          <a:spcPts val="0"/>
                        </a:spcAft>
                      </a:pPr>
                      <a:r>
                        <a:rPr sz="1600" b="1">
                          <a:solidFill>
                            <a:srgbClr val="C0392B"/>
                          </a:solidFill>
                          <a:latin typeface="Yu Gothic"/>
                          <a:ea typeface="Yu Gothic"/>
                          <a:cs typeface="Yu Gothic"/>
                        </a:rPr>
                        <a:t>LV用API・振り分け・会話制御</a:t>
                      </a:r>
                    </a:p>
                  </a:txBody>
                  <a:tcPr marL="91440" marR="91440" anchor="ctr">
                    <a:solidFill>
                      <a:srgbClr val="FDECEA"/>
                    </a:solidFill>
                  </a:tcPr>
                </a:tc>
                <a:tc>
                  <a:txBody>
                    <a:bodyPr wrap="square"/>
                    <a:lstStyle/>
                    <a:p>
                      <a:pPr algn="l">
                        <a:spcAft>
                          <a:spcPts val="0"/>
                        </a:spcAft>
                      </a:pPr>
                      <a:r>
                        <a:rPr sz="1600" b="1">
                          <a:solidFill>
                            <a:srgbClr val="C0392B"/>
                          </a:solidFill>
                          <a:latin typeface="Yu Gothic"/>
                          <a:ea typeface="Yu Gothic"/>
                          <a:cs typeface="Yu Gothic"/>
                        </a:rPr>
                        <a:t>独自実装</a:t>
                      </a:r>
                    </a:p>
                  </a:txBody>
                  <a:tcPr marL="91440" marR="91440" anchor="ctr">
                    <a:solidFill>
                      <a:srgbClr val="FDECEA"/>
                    </a:solidFill>
                  </a:tcPr>
                </a:tc>
                <a:tc>
                  <a:txBody>
                    <a:bodyPr wrap="square"/>
                    <a:lstStyle/>
                    <a:p>
                      <a:pPr algn="l">
                        <a:spcAft>
                          <a:spcPts val="0"/>
                        </a:spcAft>
                      </a:pPr>
                      <a:r>
                        <a:rPr sz="1600" b="1">
                          <a:solidFill>
                            <a:srgbClr val="C0392B"/>
                          </a:solidFill>
                          <a:latin typeface="Yu Gothic"/>
                          <a:ea typeface="Yu Gothic"/>
                          <a:cs typeface="Yu Gothic"/>
                        </a:rPr>
                        <a:t>自作（研究の中核）</a:t>
                      </a:r>
                    </a:p>
                  </a:txBody>
                  <a:tcPr marL="91440" marR="91440" anchor="ctr">
                    <a:solidFill>
                      <a:srgbClr val="FDECEA"/>
                    </a:solidFill>
                  </a:tcPr>
                </a:tc>
              </a:tr>
            </a:tbl>
          </a:graphicData>
        </a:graphic>
      </p:graphicFrame>
      <p:sp>
        <p:nvSpPr>
          <p:cNvPr id="4" name="TextBox 3"/>
          <p:cNvSpPr txBox="1"/>
          <p:nvPr/>
        </p:nvSpPr>
        <p:spPr>
          <a:xfrm>
            <a:off x="731520" y="5212080"/>
            <a:ext cx="10698480" cy="731520"/>
          </a:xfrm>
          <a:prstGeom prst="rect">
            <a:avLst/>
          </a:prstGeom>
          <a:noFill/>
        </p:spPr>
        <p:txBody>
          <a:bodyPr wrap="square" anchor="t">
            <a:spAutoFit/>
          </a:bodyPr>
          <a:lstStyle/>
          <a:p>
            <a:pPr algn="ctr">
              <a:spcAft>
                <a:spcPts val="600"/>
              </a:spcAft>
            </a:pPr>
            <a:r>
              <a:rPr sz="1900" b="1">
                <a:solidFill>
                  <a:srgbClr val="1F3A5F"/>
                </a:solidFill>
                <a:latin typeface="Yu Gothic"/>
                <a:ea typeface="Yu Gothic"/>
                <a:cs typeface="Yu Gothic"/>
              </a:rPr>
              <a:t>Dify / Flowise / LiteLLM / NextChat / OpenWebUI などの既製LLM製品は不使用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a:lstStyle/>
          <a:p>
            <a:pPr algn="l">
              <a:spcAft>
                <a:spcPts val="600"/>
              </a:spcAft>
            </a:pPr>
            <a:r>
              <a:rPr sz="3000" b="1">
                <a:solidFill>
                  <a:srgbClr val="FFFFFF"/>
                </a:solidFill>
                <a:latin typeface="Yu Gothic"/>
                <a:ea typeface="Yu Gothic"/>
                <a:cs typeface="Yu Gothic"/>
              </a:rPr>
              <a:t>補3．発言順の制御</a:t>
            </a:r>
          </a:p>
        </p:txBody>
      </p:sp>
      <p:sp>
        <p:nvSpPr>
          <p:cNvPr id="3" name="TextBox 2"/>
          <p:cNvSpPr txBox="1"/>
          <p:nvPr/>
        </p:nvSpPr>
        <p:spPr>
          <a:xfrm>
            <a:off x="731520" y="1097280"/>
            <a:ext cx="10698480" cy="548640"/>
          </a:xfrm>
          <a:prstGeom prst="rect">
            <a:avLst/>
          </a:prstGeom>
          <a:noFill/>
        </p:spPr>
        <p:txBody>
          <a:bodyPr wrap="square" anchor="t">
            <a:spAutoFit/>
          </a:bodyPr>
          <a:lstStyle/>
          <a:p>
            <a:pPr algn="l">
              <a:spcAft>
                <a:spcPts val="600"/>
              </a:spcAft>
            </a:pPr>
            <a:r>
              <a:rPr sz="1900" b="0">
                <a:solidFill>
                  <a:srgbClr val="595A5C"/>
                </a:solidFill>
                <a:latin typeface="Yu Gothic"/>
                <a:ea typeface="Yu Gothic"/>
                <a:cs typeface="Yu Gothic"/>
              </a:rPr>
              <a:t>「誰が次に話すかを決める処理」と「実際に呼び出す処理」を分離してある</a:t>
            </a:r>
          </a:p>
        </p:txBody>
      </p:sp>
      <p:sp>
        <p:nvSpPr>
          <p:cNvPr id="4" name="Rounded Rectangle 3"/>
          <p:cNvSpPr/>
          <p:nvPr/>
        </p:nvSpPr>
        <p:spPr>
          <a:xfrm>
            <a:off x="731520" y="1737360"/>
            <a:ext cx="5120640" cy="210312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2000" b="1">
                <a:solidFill>
                  <a:srgbClr val="0E7C86"/>
                </a:solidFill>
                <a:latin typeface="Yu Gothic"/>
                <a:ea typeface="Yu Gothic"/>
                <a:cs typeface="Yu Gothic"/>
              </a:rPr>
              <a:t>現在（段階B）</a:t>
            </a:r>
          </a:p>
          <a:p>
            <a:pPr algn="l">
              <a:spcAft>
                <a:spcPts val="500"/>
              </a:spcAft>
            </a:pPr>
            <a:r>
              <a:rPr sz="1600" b="0">
                <a:solidFill>
                  <a:srgbClr val="222222"/>
                </a:solidFill>
                <a:latin typeface="Yu Gothic"/>
                <a:ea typeface="Yu Gothic"/>
                <a:cs typeface="Yu Gothic"/>
              </a:rPr>
              <a:t>順番を固定の規則で決める（巡回方式）。</a:t>
            </a:r>
          </a:p>
          <a:p>
            <a:pPr algn="l">
              <a:spcAft>
                <a:spcPts val="500"/>
              </a:spcAft>
            </a:pPr>
            <a:r>
              <a:rPr sz="1600" b="0">
                <a:solidFill>
                  <a:srgbClr val="222222"/>
                </a:solidFill>
                <a:latin typeface="Yu Gothic"/>
                <a:ea typeface="Yu Gothic"/>
                <a:cs typeface="Yu Gothic"/>
              </a:rPr>
              <a:t>決めた順に1体ずつ呼び出し、</a:t>
            </a:r>
          </a:p>
          <a:p>
            <a:pPr algn="l">
              <a:spcAft>
                <a:spcPts val="500"/>
              </a:spcAft>
            </a:pPr>
            <a:r>
              <a:rPr sz="1600" b="0">
                <a:solidFill>
                  <a:srgbClr val="222222"/>
                </a:solidFill>
                <a:latin typeface="Yu Gothic"/>
                <a:ea typeface="Yu Gothic"/>
                <a:cs typeface="Yu Gothic"/>
              </a:rPr>
              <a:t>直前までの発言を文脈として渡す。</a:t>
            </a:r>
          </a:p>
        </p:txBody>
      </p:sp>
      <p:sp>
        <p:nvSpPr>
          <p:cNvPr id="5" name="Rounded Rectangle 4"/>
          <p:cNvSpPr/>
          <p:nvPr/>
        </p:nvSpPr>
        <p:spPr>
          <a:xfrm>
            <a:off x="6400800" y="1737360"/>
            <a:ext cx="5120640" cy="2103120"/>
          </a:xfrm>
          <a:prstGeom prst="roundRect">
            <a:avLst/>
          </a:prstGeom>
          <a:solidFill>
            <a:srgbClr val="EFF3F7"/>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2000" b="1">
                <a:solidFill>
                  <a:srgbClr val="C0392B"/>
                </a:solidFill>
                <a:latin typeface="Yu Gothic"/>
                <a:ea typeface="Yu Gothic"/>
                <a:cs typeface="Yu Gothic"/>
              </a:rPr>
              <a:t>将来（段階C）</a:t>
            </a:r>
          </a:p>
          <a:p>
            <a:pPr algn="l">
              <a:spcAft>
                <a:spcPts val="500"/>
              </a:spcAft>
            </a:pPr>
            <a:r>
              <a:rPr sz="1600" b="0">
                <a:solidFill>
                  <a:srgbClr val="222222"/>
                </a:solidFill>
                <a:latin typeface="Yu Gothic"/>
                <a:ea typeface="Yu Gothic"/>
                <a:cs typeface="Yu Gothic"/>
              </a:rPr>
              <a:t>司会AIが文脈を読んで次の発話者を決める。</a:t>
            </a:r>
          </a:p>
          <a:p>
            <a:pPr algn="l">
              <a:spcAft>
                <a:spcPts val="500"/>
              </a:spcAft>
            </a:pPr>
            <a:r>
              <a:rPr sz="1600" b="0">
                <a:solidFill>
                  <a:srgbClr val="222222"/>
                </a:solidFill>
                <a:latin typeface="Yu Gothic"/>
                <a:ea typeface="Yu Gothic"/>
                <a:cs typeface="Yu Gothic"/>
              </a:rPr>
              <a:t>「決める処理」だけを差し替えればよく、</a:t>
            </a:r>
          </a:p>
          <a:p>
            <a:pPr algn="l">
              <a:spcAft>
                <a:spcPts val="500"/>
              </a:spcAft>
            </a:pPr>
            <a:r>
              <a:rPr sz="1600" b="0">
                <a:solidFill>
                  <a:srgbClr val="222222"/>
                </a:solidFill>
                <a:latin typeface="Yu Gothic"/>
                <a:ea typeface="Yu Gothic"/>
                <a:cs typeface="Yu Gothic"/>
              </a:rPr>
              <a:t>呼び出し側の実装は変更不要。</a:t>
            </a:r>
          </a:p>
        </p:txBody>
      </p:sp>
      <p:sp>
        <p:nvSpPr>
          <p:cNvPr id="6" name="TextBox 5"/>
          <p:cNvSpPr txBox="1"/>
          <p:nvPr/>
        </p:nvSpPr>
        <p:spPr>
          <a:xfrm>
            <a:off x="731520" y="4114800"/>
            <a:ext cx="10698480" cy="1645920"/>
          </a:xfrm>
          <a:prstGeom prst="rect">
            <a:avLst/>
          </a:prstGeom>
          <a:noFill/>
        </p:spPr>
        <p:txBody>
          <a:bodyPr wrap="square" anchor="t">
            <a:spAutoFit/>
          </a:bodyPr>
          <a:lstStyle/>
          <a:p>
            <a:pPr algn="l">
              <a:spcAft>
                <a:spcPts val="800"/>
              </a:spcAft>
            </a:pPr>
            <a:r>
              <a:rPr sz="2000" b="1">
                <a:solidFill>
                  <a:srgbClr val="1F3A5F"/>
                </a:solidFill>
                <a:latin typeface="Yu Gothic"/>
                <a:ea typeface="Yu Gothic"/>
                <a:cs typeface="Yu Gothic"/>
              </a:rPr>
              <a:t>部分成功の扱い</a:t>
            </a:r>
          </a:p>
          <a:p>
            <a:pPr algn="l">
              <a:spcAft>
                <a:spcPts val="600"/>
              </a:spcAft>
            </a:pPr>
            <a:r>
              <a:rPr sz="1700" b="0">
                <a:latin typeface="Yu Gothic"/>
                <a:ea typeface="Yu Gothic"/>
                <a:cs typeface="Yu Gothic"/>
              </a:rPr>
              <a:t>1体が失敗しても中断せず、残りのAIの発言は返す。どの発言が失敗したかは個別に判別できるようにしている。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a:lstStyle/>
          <a:p>
            <a:pPr algn="l">
              <a:spcAft>
                <a:spcPts val="600"/>
              </a:spcAft>
            </a:pPr>
            <a:r>
              <a:rPr sz="3000" b="1">
                <a:solidFill>
                  <a:srgbClr val="FFFFFF"/>
                </a:solidFill>
                <a:latin typeface="Yu Gothic"/>
                <a:ea typeface="Yu Gothic"/>
                <a:cs typeface="Yu Gothic"/>
              </a:rPr>
              <a:t>補4．堅牢性への配慮</a:t>
            </a:r>
          </a:p>
        </p:txBody>
      </p:sp>
      <p:graphicFrame>
        <p:nvGraphicFramePr>
          <p:cNvPr id="3" name="Table 2"/>
          <p:cNvGraphicFramePr>
            <a:graphicFrameLocks noGrp="1"/>
          </p:cNvGraphicFramePr>
          <p:nvPr/>
        </p:nvGraphicFramePr>
        <p:xfrm>
          <a:off x="731520" y="1234440"/>
          <a:ext cx="10698480" cy="4407408"/>
        </p:xfrm>
        <a:graphic>
          <a:graphicData uri="http://schemas.openxmlformats.org/drawingml/2006/table">
            <a:tbl>
              <a:tblPr firstRow="1" bandRow="1">
                <a:tableStyleId>{5C22544A-7EE6-4342-B048-85BDC9FD1C3A}</a:tableStyleId>
              </a:tblPr>
              <a:tblGrid>
                <a:gridCol w="2468880"/>
                <a:gridCol w="3291840"/>
                <a:gridCol w="4937760"/>
              </a:tblGrid>
              <a:tr h="457200">
                <a:tc>
                  <a:txBody>
                    <a:bodyPr wrap="square"/>
                    <a:lstStyle/>
                    <a:p>
                      <a:pPr algn="l">
                        <a:spcAft>
                          <a:spcPts val="0"/>
                        </a:spcAft>
                      </a:pPr>
                      <a:r>
                        <a:rPr sz="1600" b="1">
                          <a:solidFill>
                            <a:srgbClr val="FFFFFF"/>
                          </a:solidFill>
                          <a:latin typeface="Yu Gothic"/>
                          <a:ea typeface="Yu Gothic"/>
                          <a:cs typeface="Yu Gothic"/>
                        </a:rPr>
                        <a:t>項目</a:t>
                      </a:r>
                    </a:p>
                  </a:txBody>
                  <a:tcPr marL="91440" marR="91440" anchor="ctr">
                    <a:solidFill>
                      <a:srgbClr val="1F3A5F"/>
                    </a:solidFill>
                  </a:tcPr>
                </a:tc>
                <a:tc>
                  <a:txBody>
                    <a:bodyPr wrap="square"/>
                    <a:lstStyle/>
                    <a:p>
                      <a:pPr algn="l">
                        <a:spcAft>
                          <a:spcPts val="0"/>
                        </a:spcAft>
                      </a:pPr>
                      <a:r>
                        <a:rPr sz="1600" b="1">
                          <a:solidFill>
                            <a:srgbClr val="FFFFFF"/>
                          </a:solidFill>
                          <a:latin typeface="Yu Gothic"/>
                          <a:ea typeface="Yu Gothic"/>
                          <a:cs typeface="Yu Gothic"/>
                        </a:rPr>
                        <a:t>対策</a:t>
                      </a:r>
                    </a:p>
                  </a:txBody>
                  <a:tcPr marL="91440" marR="91440" anchor="ctr">
                    <a:solidFill>
                      <a:srgbClr val="1F3A5F"/>
                    </a:solidFill>
                  </a:tcPr>
                </a:tc>
                <a:tc>
                  <a:txBody>
                    <a:bodyPr wrap="square"/>
                    <a:lstStyle/>
                    <a:p>
                      <a:pPr algn="l">
                        <a:spcAft>
                          <a:spcPts val="0"/>
                        </a:spcAft>
                      </a:pPr>
                      <a:r>
                        <a:rPr sz="1600" b="1">
                          <a:solidFill>
                            <a:srgbClr val="FFFFFF"/>
                          </a:solidFill>
                          <a:latin typeface="Yu Gothic"/>
                          <a:ea typeface="Yu Gothic"/>
                          <a:cs typeface="Yu Gothic"/>
                        </a:rPr>
                        <a:t>理由</a:t>
                      </a:r>
                    </a:p>
                  </a:txBody>
                  <a:tcPr marL="91440" marR="91440" anchor="ctr">
                    <a:solidFill>
                      <a:srgbClr val="1F3A5F"/>
                    </a:solidFill>
                  </a:tcPr>
                </a:tc>
              </a:tr>
              <a:tr h="658368">
                <a:tc>
                  <a:txBody>
                    <a:bodyPr wrap="square"/>
                    <a:lstStyle/>
                    <a:p>
                      <a:pPr algn="l">
                        <a:spcAft>
                          <a:spcPts val="0"/>
                        </a:spcAft>
                      </a:pPr>
                      <a:r>
                        <a:rPr sz="1500" b="0">
                          <a:solidFill>
                            <a:srgbClr val="222222"/>
                          </a:solidFill>
                          <a:latin typeface="Yu Gothic"/>
                          <a:ea typeface="Yu Gothic"/>
                          <a:cs typeface="Yu Gothic"/>
                        </a:rPr>
                        <a:t>入力の長さ</a:t>
                      </a:r>
                    </a:p>
                  </a:txBody>
                  <a:tcPr marL="91440" marR="91440" anchor="ctr">
                    <a:solidFill>
                      <a:srgbClr val="FFFFFF"/>
                    </a:solidFill>
                  </a:tcPr>
                </a:tc>
                <a:tc>
                  <a:txBody>
                    <a:bodyPr wrap="square"/>
                    <a:lstStyle/>
                    <a:p>
                      <a:pPr algn="l">
                        <a:spcAft>
                          <a:spcPts val="0"/>
                        </a:spcAft>
                      </a:pPr>
                      <a:r>
                        <a:rPr sz="1500" b="0">
                          <a:solidFill>
                            <a:srgbClr val="222222"/>
                          </a:solidFill>
                          <a:latin typeface="Yu Gothic"/>
                          <a:ea typeface="Yu Gothic"/>
                          <a:cs typeface="Yu Gothic"/>
                        </a:rPr>
                        <a:t>8,000文字で打ち切り</a:t>
                      </a:r>
                    </a:p>
                  </a:txBody>
                  <a:tcPr marL="91440" marR="91440" anchor="ctr">
                    <a:solidFill>
                      <a:srgbClr val="FFFFFF"/>
                    </a:solidFill>
                  </a:tcPr>
                </a:tc>
                <a:tc>
                  <a:txBody>
                    <a:bodyPr wrap="square"/>
                    <a:lstStyle/>
                    <a:p>
                      <a:pPr algn="l">
                        <a:spcAft>
                          <a:spcPts val="0"/>
                        </a:spcAft>
                      </a:pPr>
                      <a:r>
                        <a:rPr sz="1500" b="0">
                          <a:solidFill>
                            <a:srgbClr val="222222"/>
                          </a:solidFill>
                          <a:latin typeface="Yu Gothic"/>
                          <a:ea typeface="Yu Gothic"/>
                          <a:cs typeface="Yu Gothic"/>
                        </a:rPr>
                        <a:t>過大な入力によるコスト・遅延の増加を防ぐ</a:t>
                      </a:r>
                    </a:p>
                  </a:txBody>
                  <a:tcPr marL="91440" marR="91440" anchor="ctr">
                    <a:solidFill>
                      <a:srgbClr val="FFFFFF"/>
                    </a:solidFill>
                  </a:tcPr>
                </a:tc>
              </a:tr>
              <a:tr h="658368">
                <a:tc>
                  <a:txBody>
                    <a:bodyPr wrap="square"/>
                    <a:lstStyle/>
                    <a:p>
                      <a:pPr algn="l">
                        <a:spcAft>
                          <a:spcPts val="0"/>
                        </a:spcAft>
                      </a:pPr>
                      <a:r>
                        <a:rPr sz="1500" b="0">
                          <a:solidFill>
                            <a:srgbClr val="222222"/>
                          </a:solidFill>
                          <a:latin typeface="Yu Gothic"/>
                          <a:ea typeface="Yu Gothic"/>
                          <a:cs typeface="Yu Gothic"/>
                        </a:rPr>
                        <a:t>会話履歴</a:t>
                      </a:r>
                    </a:p>
                  </a:txBody>
                  <a:tcPr marL="91440" marR="91440" anchor="ctr">
                    <a:solidFill>
                      <a:srgbClr val="EFF3F7"/>
                    </a:solidFill>
                  </a:tcPr>
                </a:tc>
                <a:tc>
                  <a:txBody>
                    <a:bodyPr wrap="square"/>
                    <a:lstStyle/>
                    <a:p>
                      <a:pPr algn="l">
                        <a:spcAft>
                          <a:spcPts val="0"/>
                        </a:spcAft>
                      </a:pPr>
                      <a:r>
                        <a:rPr sz="1500" b="0">
                          <a:solidFill>
                            <a:srgbClr val="222222"/>
                          </a:solidFill>
                          <a:latin typeface="Yu Gothic"/>
                          <a:ea typeface="Yu Gothic"/>
                          <a:cs typeface="Yu Gothic"/>
                        </a:rPr>
                        <a:t>直近20件までに制限</a:t>
                      </a:r>
                    </a:p>
                  </a:txBody>
                  <a:tcPr marL="91440" marR="91440" anchor="ctr">
                    <a:solidFill>
                      <a:srgbClr val="EFF3F7"/>
                    </a:solidFill>
                  </a:tcPr>
                </a:tc>
                <a:tc>
                  <a:txBody>
                    <a:bodyPr wrap="square"/>
                    <a:lstStyle/>
                    <a:p>
                      <a:pPr algn="l">
                        <a:spcAft>
                          <a:spcPts val="0"/>
                        </a:spcAft>
                      </a:pPr>
                      <a:r>
                        <a:rPr sz="1500" b="0">
                          <a:solidFill>
                            <a:srgbClr val="222222"/>
                          </a:solidFill>
                          <a:latin typeface="Yu Gothic"/>
                          <a:ea typeface="Yu Gothic"/>
                          <a:cs typeface="Yu Gothic"/>
                        </a:rPr>
                        <a:t>履歴の肥大による遅延を防ぐ</a:t>
                      </a:r>
                    </a:p>
                  </a:txBody>
                  <a:tcPr marL="91440" marR="91440" anchor="ctr">
                    <a:solidFill>
                      <a:srgbClr val="EFF3F7"/>
                    </a:solidFill>
                  </a:tcPr>
                </a:tc>
              </a:tr>
              <a:tr h="658368">
                <a:tc>
                  <a:txBody>
                    <a:bodyPr wrap="square"/>
                    <a:lstStyle/>
                    <a:p>
                      <a:pPr algn="l">
                        <a:spcAft>
                          <a:spcPts val="0"/>
                        </a:spcAft>
                      </a:pPr>
                      <a:r>
                        <a:rPr sz="1500" b="0">
                          <a:solidFill>
                            <a:srgbClr val="222222"/>
                          </a:solidFill>
                          <a:latin typeface="Yu Gothic"/>
                          <a:ea typeface="Yu Gothic"/>
                          <a:cs typeface="Yu Gothic"/>
                        </a:rPr>
                        <a:t>AIの数・巡回数</a:t>
                      </a:r>
                    </a:p>
                  </a:txBody>
                  <a:tcPr marL="91440" marR="91440" anchor="ctr">
                    <a:solidFill>
                      <a:srgbClr val="FFFFFF"/>
                    </a:solidFill>
                  </a:tcPr>
                </a:tc>
                <a:tc>
                  <a:txBody>
                    <a:bodyPr wrap="square"/>
                    <a:lstStyle/>
                    <a:p>
                      <a:pPr algn="l">
                        <a:spcAft>
                          <a:spcPts val="0"/>
                        </a:spcAft>
                      </a:pPr>
                      <a:r>
                        <a:rPr sz="1500" b="0">
                          <a:solidFill>
                            <a:srgbClr val="222222"/>
                          </a:solidFill>
                          <a:latin typeface="Yu Gothic"/>
                          <a:ea typeface="Yu Gothic"/>
                          <a:cs typeface="Yu Gothic"/>
                        </a:rPr>
                        <a:t>上限を設定（最大6発言）</a:t>
                      </a:r>
                    </a:p>
                  </a:txBody>
                  <a:tcPr marL="91440" marR="91440" anchor="ctr">
                    <a:solidFill>
                      <a:srgbClr val="FFFFFF"/>
                    </a:solidFill>
                  </a:tcPr>
                </a:tc>
                <a:tc>
                  <a:txBody>
                    <a:bodyPr wrap="square"/>
                    <a:lstStyle/>
                    <a:p>
                      <a:pPr algn="l">
                        <a:spcAft>
                          <a:spcPts val="0"/>
                        </a:spcAft>
                      </a:pPr>
                      <a:r>
                        <a:rPr sz="1500" b="0">
                          <a:solidFill>
                            <a:srgbClr val="222222"/>
                          </a:solidFill>
                          <a:latin typeface="Yu Gothic"/>
                          <a:ea typeface="Yu Gothic"/>
                          <a:cs typeface="Yu Gothic"/>
                        </a:rPr>
                        <a:t>応答時間が際限なく伸びるのを防ぐ</a:t>
                      </a:r>
                    </a:p>
                  </a:txBody>
                  <a:tcPr marL="91440" marR="91440" anchor="ctr">
                    <a:solidFill>
                      <a:srgbClr val="FFFFFF"/>
                    </a:solidFill>
                  </a:tcPr>
                </a:tc>
              </a:tr>
              <a:tr h="658368">
                <a:tc>
                  <a:txBody>
                    <a:bodyPr wrap="square"/>
                    <a:lstStyle/>
                    <a:p>
                      <a:pPr algn="l">
                        <a:spcAft>
                          <a:spcPts val="0"/>
                        </a:spcAft>
                      </a:pPr>
                      <a:r>
                        <a:rPr sz="1500" b="0">
                          <a:solidFill>
                            <a:srgbClr val="222222"/>
                          </a:solidFill>
                          <a:latin typeface="Yu Gothic"/>
                          <a:ea typeface="Yu Gothic"/>
                          <a:cs typeface="Yu Gothic"/>
                        </a:rPr>
                        <a:t>応答待ち</a:t>
                      </a:r>
                    </a:p>
                  </a:txBody>
                  <a:tcPr marL="91440" marR="91440" anchor="ctr">
                    <a:solidFill>
                      <a:srgbClr val="EFF3F7"/>
                    </a:solidFill>
                  </a:tcPr>
                </a:tc>
                <a:tc>
                  <a:txBody>
                    <a:bodyPr wrap="square"/>
                    <a:lstStyle/>
                    <a:p>
                      <a:pPr algn="l">
                        <a:spcAft>
                          <a:spcPts val="0"/>
                        </a:spcAft>
                      </a:pPr>
                      <a:r>
                        <a:rPr sz="1500" b="0">
                          <a:solidFill>
                            <a:srgbClr val="222222"/>
                          </a:solidFill>
                          <a:latin typeface="Yu Gothic"/>
                          <a:ea typeface="Yu Gothic"/>
                          <a:cs typeface="Yu Gothic"/>
                        </a:rPr>
                        <a:t>60秒でタイムアウト</a:t>
                      </a:r>
                    </a:p>
                  </a:txBody>
                  <a:tcPr marL="91440" marR="91440" anchor="ctr">
                    <a:solidFill>
                      <a:srgbClr val="EFF3F7"/>
                    </a:solidFill>
                  </a:tcPr>
                </a:tc>
                <a:tc>
                  <a:txBody>
                    <a:bodyPr wrap="square"/>
                    <a:lstStyle/>
                    <a:p>
                      <a:pPr algn="l">
                        <a:spcAft>
                          <a:spcPts val="0"/>
                        </a:spcAft>
                      </a:pPr>
                      <a:r>
                        <a:rPr sz="1500" b="0">
                          <a:solidFill>
                            <a:srgbClr val="222222"/>
                          </a:solidFill>
                          <a:latin typeface="Yu Gothic"/>
                          <a:ea typeface="Yu Gothic"/>
                          <a:cs typeface="Yu Gothic"/>
                        </a:rPr>
                        <a:t>無応答時に処理が止まり続けるのを防ぐ</a:t>
                      </a:r>
                    </a:p>
                  </a:txBody>
                  <a:tcPr marL="91440" marR="91440" anchor="ctr">
                    <a:solidFill>
                      <a:srgbClr val="EFF3F7"/>
                    </a:solidFill>
                  </a:tcPr>
                </a:tc>
              </a:tr>
              <a:tr h="658368">
                <a:tc>
                  <a:txBody>
                    <a:bodyPr wrap="square"/>
                    <a:lstStyle/>
                    <a:p>
                      <a:pPr algn="l">
                        <a:spcAft>
                          <a:spcPts val="0"/>
                        </a:spcAft>
                      </a:pPr>
                      <a:r>
                        <a:rPr sz="1500" b="0">
                          <a:solidFill>
                            <a:srgbClr val="222222"/>
                          </a:solidFill>
                          <a:latin typeface="Yu Gothic"/>
                          <a:ea typeface="Yu Gothic"/>
                          <a:cs typeface="Yu Gothic"/>
                        </a:rPr>
                        <a:t>1体の失敗</a:t>
                      </a:r>
                    </a:p>
                  </a:txBody>
                  <a:tcPr marL="91440" marR="91440" anchor="ctr">
                    <a:solidFill>
                      <a:srgbClr val="FFFFFF"/>
                    </a:solidFill>
                  </a:tcPr>
                </a:tc>
                <a:tc>
                  <a:txBody>
                    <a:bodyPr wrap="square"/>
                    <a:lstStyle/>
                    <a:p>
                      <a:pPr algn="l">
                        <a:spcAft>
                          <a:spcPts val="0"/>
                        </a:spcAft>
                      </a:pPr>
                      <a:r>
                        <a:rPr sz="1500" b="0">
                          <a:solidFill>
                            <a:srgbClr val="222222"/>
                          </a:solidFill>
                          <a:latin typeface="Yu Gothic"/>
                          <a:ea typeface="Yu Gothic"/>
                          <a:cs typeface="Yu Gothic"/>
                        </a:rPr>
                        <a:t>中断せず残りを継続</a:t>
                      </a:r>
                    </a:p>
                  </a:txBody>
                  <a:tcPr marL="91440" marR="91440" anchor="ctr">
                    <a:solidFill>
                      <a:srgbClr val="FFFFFF"/>
                    </a:solidFill>
                  </a:tcPr>
                </a:tc>
                <a:tc>
                  <a:txBody>
                    <a:bodyPr wrap="square"/>
                    <a:lstStyle/>
                    <a:p>
                      <a:pPr algn="l">
                        <a:spcAft>
                          <a:spcPts val="0"/>
                        </a:spcAft>
                      </a:pPr>
                      <a:r>
                        <a:rPr sz="1500" b="0">
                          <a:solidFill>
                            <a:srgbClr val="222222"/>
                          </a:solidFill>
                          <a:latin typeface="Yu Gothic"/>
                          <a:ea typeface="Yu Gothic"/>
                          <a:cs typeface="Yu Gothic"/>
                        </a:rPr>
                        <a:t>1体の障害で全体が落ちないようにする</a:t>
                      </a:r>
                    </a:p>
                  </a:txBody>
                  <a:tcPr marL="91440" marR="91440" anchor="ctr">
                    <a:solidFill>
                      <a:srgbClr val="FFFFFF"/>
                    </a:solidFill>
                  </a:tcPr>
                </a:tc>
              </a:tr>
              <a:tr h="658368">
                <a:tc>
                  <a:txBody>
                    <a:bodyPr wrap="square"/>
                    <a:lstStyle/>
                    <a:p>
                      <a:pPr algn="l">
                        <a:spcAft>
                          <a:spcPts val="0"/>
                        </a:spcAft>
                      </a:pPr>
                      <a:r>
                        <a:rPr sz="1500" b="0">
                          <a:solidFill>
                            <a:srgbClr val="222222"/>
                          </a:solidFill>
                          <a:latin typeface="Yu Gothic"/>
                          <a:ea typeface="Yu Gothic"/>
                          <a:cs typeface="Yu Gothic"/>
                        </a:rPr>
                        <a:t>自動テスト</a:t>
                      </a:r>
                    </a:p>
                  </a:txBody>
                  <a:tcPr marL="91440" marR="91440" anchor="ctr">
                    <a:solidFill>
                      <a:srgbClr val="EFF3F7"/>
                    </a:solidFill>
                  </a:tcPr>
                </a:tc>
                <a:tc>
                  <a:txBody>
                    <a:bodyPr wrap="square"/>
                    <a:lstStyle/>
                    <a:p>
                      <a:pPr algn="l">
                        <a:spcAft>
                          <a:spcPts val="0"/>
                        </a:spcAft>
                      </a:pPr>
                      <a:r>
                        <a:rPr sz="1500" b="0">
                          <a:solidFill>
                            <a:srgbClr val="222222"/>
                          </a:solidFill>
                          <a:latin typeface="Yu Gothic"/>
                          <a:ea typeface="Yu Gothic"/>
                          <a:cs typeface="Yu Gothic"/>
                        </a:rPr>
                        <a:t>LLMを模擬して検証</a:t>
                      </a:r>
                    </a:p>
                  </a:txBody>
                  <a:tcPr marL="91440" marR="91440" anchor="ctr">
                    <a:solidFill>
                      <a:srgbClr val="EFF3F7"/>
                    </a:solidFill>
                  </a:tcPr>
                </a:tc>
                <a:tc>
                  <a:txBody>
                    <a:bodyPr wrap="square"/>
                    <a:lstStyle/>
                    <a:p>
                      <a:pPr algn="l">
                        <a:spcAft>
                          <a:spcPts val="0"/>
                        </a:spcAft>
                      </a:pPr>
                      <a:r>
                        <a:rPr sz="1500" b="0">
                          <a:solidFill>
                            <a:srgbClr val="222222"/>
                          </a:solidFill>
                          <a:latin typeface="Yu Gothic"/>
                          <a:ea typeface="Yu Gothic"/>
                          <a:cs typeface="Yu Gothic"/>
                        </a:rPr>
                        <a:t>APIを呼ばずに動作を確認できる</a:t>
                      </a:r>
                    </a:p>
                  </a:txBody>
                  <a:tcPr marL="91440" marR="91440" anchor="ctr">
                    <a:solidFill>
                      <a:srgbClr val="EFF3F7"/>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0"/>
          <a:lstStyle/>
          <a:p>
            <a:pPr algn="l">
              <a:spcAft>
                <a:spcPts val="600"/>
              </a:spcAft>
            </a:pPr>
            <a:r>
              <a:rPr sz="3000" b="1">
                <a:solidFill>
                  <a:srgbClr val="FFFFFF"/>
                </a:solidFill>
                <a:latin typeface="Yu Gothic"/>
                <a:ea typeface="Yu Gothic"/>
                <a:cs typeface="Yu Gothic"/>
              </a:rPr>
              <a:t>補5．開発体制</a:t>
            </a:r>
          </a:p>
        </p:txBody>
      </p:sp>
      <p:sp>
        <p:nvSpPr>
          <p:cNvPr id="3" name="Rounded Rectangle 2"/>
          <p:cNvSpPr/>
          <p:nvPr/>
        </p:nvSpPr>
        <p:spPr>
          <a:xfrm>
            <a:off x="731520" y="1234440"/>
            <a:ext cx="3383280" cy="210312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900" b="1">
                <a:solidFill>
                  <a:srgbClr val="0E7C86"/>
                </a:solidFill>
                <a:latin typeface="Yu Gothic"/>
                <a:ea typeface="Yu Gothic"/>
                <a:cs typeface="Yu Gothic"/>
              </a:rPr>
              <a:t>ブランチ運用</a:t>
            </a:r>
          </a:p>
          <a:p>
            <a:pPr algn="l">
              <a:spcAft>
                <a:spcPts val="500"/>
              </a:spcAft>
            </a:pPr>
            <a:r>
              <a:rPr sz="1500" b="0">
                <a:solidFill>
                  <a:srgbClr val="222222"/>
                </a:solidFill>
                <a:latin typeface="Yu Gothic"/>
                <a:ea typeface="Yu Gothic"/>
                <a:cs typeface="Yu Gothic"/>
              </a:rPr>
              <a:t>main：動作確認済みの版</a:t>
            </a:r>
          </a:p>
          <a:p>
            <a:pPr algn="l">
              <a:spcAft>
                <a:spcPts val="500"/>
              </a:spcAft>
            </a:pPr>
            <a:r>
              <a:rPr sz="1500" b="0">
                <a:solidFill>
                  <a:srgbClr val="222222"/>
                </a:solidFill>
                <a:latin typeface="Yu Gothic"/>
                <a:ea typeface="Yu Gothic"/>
                <a:cs typeface="Yu Gothic"/>
              </a:rPr>
              <a:t>develop：統合用</a:t>
            </a:r>
          </a:p>
          <a:p>
            <a:pPr algn="l">
              <a:spcAft>
                <a:spcPts val="500"/>
              </a:spcAft>
            </a:pPr>
            <a:r>
              <a:rPr sz="1500" b="0">
                <a:solidFill>
                  <a:srgbClr val="222222"/>
                </a:solidFill>
                <a:latin typeface="Yu Gothic"/>
                <a:ea typeface="Yu Gothic"/>
                <a:cs typeface="Yu Gothic"/>
              </a:rPr>
              <a:t>feature：作業単位</a:t>
            </a:r>
          </a:p>
          <a:p>
            <a:pPr algn="l">
              <a:spcAft>
                <a:spcPts val="500"/>
              </a:spcAft>
            </a:pPr>
            <a:r>
              <a:rPr sz="1500" b="0">
                <a:solidFill>
                  <a:srgbClr val="222222"/>
                </a:solidFill>
                <a:latin typeface="Yu Gothic"/>
                <a:ea typeface="Yu Gothic"/>
                <a:cs typeface="Yu Gothic"/>
              </a:rPr>
              <a:t/>
            </a:r>
          </a:p>
          <a:p>
            <a:pPr algn="l">
              <a:spcAft>
                <a:spcPts val="500"/>
              </a:spcAft>
            </a:pPr>
            <a:r>
              <a:rPr sz="1500" b="0">
                <a:solidFill>
                  <a:srgbClr val="222222"/>
                </a:solidFill>
                <a:latin typeface="Yu Gothic"/>
                <a:ea typeface="Yu Gothic"/>
                <a:cs typeface="Yu Gothic"/>
              </a:rPr>
              <a:t>壊れても戻せる状態を保つ</a:t>
            </a:r>
          </a:p>
        </p:txBody>
      </p:sp>
      <p:sp>
        <p:nvSpPr>
          <p:cNvPr id="4" name="Rounded Rectangle 3"/>
          <p:cNvSpPr/>
          <p:nvPr/>
        </p:nvSpPr>
        <p:spPr>
          <a:xfrm>
            <a:off x="4389120" y="1234440"/>
            <a:ext cx="3383280" cy="210312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900" b="1">
                <a:solidFill>
                  <a:srgbClr val="0E7C86"/>
                </a:solidFill>
                <a:latin typeface="Yu Gothic"/>
                <a:ea typeface="Yu Gothic"/>
                <a:cs typeface="Yu Gothic"/>
              </a:rPr>
              <a:t>ドキュメント</a:t>
            </a:r>
          </a:p>
          <a:p>
            <a:pPr algn="l">
              <a:spcAft>
                <a:spcPts val="500"/>
              </a:spcAft>
            </a:pPr>
            <a:r>
              <a:rPr sz="1500" b="0">
                <a:solidFill>
                  <a:srgbClr val="222222"/>
                </a:solidFill>
                <a:latin typeface="Yu Gothic"/>
                <a:ea typeface="Yu Gothic"/>
                <a:cs typeface="Yu Gothic"/>
              </a:rPr>
              <a:t>仕様書・構成図</a:t>
            </a:r>
          </a:p>
          <a:p>
            <a:pPr algn="l">
              <a:spcAft>
                <a:spcPts val="500"/>
              </a:spcAft>
            </a:pPr>
            <a:r>
              <a:rPr sz="1500" b="0">
                <a:solidFill>
                  <a:srgbClr val="222222"/>
                </a:solidFill>
                <a:latin typeface="Yu Gothic"/>
                <a:ea typeface="Yu Gothic"/>
                <a:cs typeface="Yu Gothic"/>
              </a:rPr>
              <a:t>LabVIEW構築手順書</a:t>
            </a:r>
          </a:p>
          <a:p>
            <a:pPr algn="l">
              <a:spcAft>
                <a:spcPts val="500"/>
              </a:spcAft>
            </a:pPr>
            <a:r>
              <a:rPr sz="1500" b="0">
                <a:solidFill>
                  <a:srgbClr val="222222"/>
                </a:solidFill>
                <a:latin typeface="Yu Gothic"/>
                <a:ea typeface="Yu Gothic"/>
                <a:cs typeface="Yu Gothic"/>
              </a:rPr>
              <a:t>研究室向け導入手順書</a:t>
            </a:r>
          </a:p>
          <a:p>
            <a:pPr algn="l">
              <a:spcAft>
                <a:spcPts val="500"/>
              </a:spcAft>
            </a:pPr>
            <a:r>
              <a:rPr sz="1500" b="0">
                <a:solidFill>
                  <a:srgbClr val="222222"/>
                </a:solidFill>
                <a:latin typeface="Yu Gothic"/>
                <a:ea typeface="Yu Gothic"/>
                <a:cs typeface="Yu Gothic"/>
              </a:rPr>
              <a:t>設計判断の記録（ADR）</a:t>
            </a:r>
          </a:p>
        </p:txBody>
      </p:sp>
      <p:sp>
        <p:nvSpPr>
          <p:cNvPr id="5" name="Rounded Rectangle 4"/>
          <p:cNvSpPr/>
          <p:nvPr/>
        </p:nvSpPr>
        <p:spPr>
          <a:xfrm>
            <a:off x="8046720" y="1234440"/>
            <a:ext cx="3383280" cy="2103120"/>
          </a:xfrm>
          <a:prstGeom prst="roundRect">
            <a:avLst/>
          </a:prstGeom>
          <a:solidFill>
            <a:srgbClr val="EFF3F7"/>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spcAft>
                <a:spcPts val="800"/>
              </a:spcAft>
            </a:pPr>
            <a:r>
              <a:rPr sz="1900" b="1">
                <a:solidFill>
                  <a:srgbClr val="0E7C86"/>
                </a:solidFill>
                <a:latin typeface="Yu Gothic"/>
                <a:ea typeface="Yu Gothic"/>
                <a:cs typeface="Yu Gothic"/>
              </a:rPr>
              <a:t>検証</a:t>
            </a:r>
          </a:p>
          <a:p>
            <a:pPr algn="l">
              <a:spcAft>
                <a:spcPts val="500"/>
              </a:spcAft>
            </a:pPr>
            <a:r>
              <a:rPr sz="1500" b="0">
                <a:solidFill>
                  <a:srgbClr val="222222"/>
                </a:solidFill>
                <a:latin typeface="Yu Gothic"/>
                <a:ea typeface="Yu Gothic"/>
                <a:cs typeface="Yu Gothic"/>
              </a:rPr>
              <a:t>自動テスト（LLMは模擬）</a:t>
            </a:r>
          </a:p>
          <a:p>
            <a:pPr algn="l">
              <a:spcAft>
                <a:spcPts val="500"/>
              </a:spcAft>
            </a:pPr>
            <a:r>
              <a:rPr sz="1500" b="0">
                <a:solidFill>
                  <a:srgbClr val="222222"/>
                </a:solidFill>
                <a:latin typeface="Yu Gothic"/>
                <a:ea typeface="Yu Gothic"/>
                <a:cs typeface="Yu Gothic"/>
              </a:rPr>
              <a:t>疎通確認スクリプト</a:t>
            </a:r>
          </a:p>
          <a:p>
            <a:pPr algn="l">
              <a:spcAft>
                <a:spcPts val="500"/>
              </a:spcAft>
            </a:pPr>
            <a:r>
              <a:rPr sz="1500" b="0">
                <a:solidFill>
                  <a:srgbClr val="222222"/>
                </a:solidFill>
                <a:latin typeface="Yu Gothic"/>
                <a:ea typeface="Yu Gothic"/>
                <a:cs typeface="Yu Gothic"/>
              </a:rPr>
              <a:t>実機での動作確認</a:t>
            </a:r>
          </a:p>
        </p:txBody>
      </p:sp>
      <p:sp>
        <p:nvSpPr>
          <p:cNvPr id="6" name="TextBox 5"/>
          <p:cNvSpPr txBox="1"/>
          <p:nvPr/>
        </p:nvSpPr>
        <p:spPr>
          <a:xfrm>
            <a:off x="731520" y="3840480"/>
            <a:ext cx="10698480" cy="1828800"/>
          </a:xfrm>
          <a:prstGeom prst="rect">
            <a:avLst/>
          </a:prstGeom>
          <a:noFill/>
        </p:spPr>
        <p:txBody>
          <a:bodyPr wrap="square" anchor="t">
            <a:spAutoFit/>
          </a:bodyPr>
          <a:lstStyle/>
          <a:p>
            <a:pPr algn="l">
              <a:spcAft>
                <a:spcPts val="1000"/>
              </a:spcAft>
            </a:pPr>
            <a:r>
              <a:rPr sz="2000" b="1">
                <a:solidFill>
                  <a:srgbClr val="1F3A5F"/>
                </a:solidFill>
                <a:latin typeface="Yu Gothic"/>
                <a:ea typeface="Yu Gothic"/>
                <a:cs typeface="Yu Gothic"/>
              </a:rPr>
              <a:t>引き継ぎを前提とした整備</a:t>
            </a:r>
          </a:p>
          <a:p>
            <a:pPr algn="l">
              <a:spcAft>
                <a:spcPts val="600"/>
              </a:spcAft>
            </a:pPr>
            <a:r>
              <a:rPr sz="1700" b="0">
                <a:latin typeface="Yu Gothic"/>
                <a:ea typeface="Yu Gothic"/>
                <a:cs typeface="Yu Gothic"/>
              </a:rPr>
              <a:t>設計の判断理由をADRとして記録しており、なぜその構成にしたかを後から追える。導入手順はDockerを前提に整理してあり、Node.jsやGitが無いPCでも起動できる。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
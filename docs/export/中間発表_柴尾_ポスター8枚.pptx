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既存計測系と大規模言語モデルを繋ぐゲートウェイの構築</a:t>
            </a:r>
          </a:p>
          <a:p>
            <a:pPr algn="ctr">
              <a:spcAft>
                <a:spcPts val="1800"/>
              </a:spcAft>
            </a:pPr>
            <a:r>
              <a:rPr sz="2300" b="0">
                <a:solidFill>
                  <a:srgbClr val="C8DAE6"/>
                </a:solidFill>
                <a:latin typeface="Yu Gothic"/>
                <a:ea typeface="Yu Gothic"/>
                <a:cs typeface="Yu Gothic"/>
              </a:rPr>
              <a:t>― LabVIEWによる複数AI対話の実現 ―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情報システム工学科　松田研究室　　2022531028　柴尾 海翔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C8DAE6"/>
                </a:solidFill>
                <a:latin typeface="Yu Gothic"/>
                <a:ea typeface="Yu Gothic"/>
                <a:cs typeface="Yu Gothic"/>
              </a:rPr>
              <a:t>2026年 9月 28日　卒業研究 中間発表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本ポスターの構成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3794760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76732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研究背景と問題点　</a:t>
            </a:r>
            <a:r>
              <a:rPr sz="1500" b="0">
                <a:solidFill>
                  <a:srgbClr val="595A5C"/>
                </a:solidFill>
                <a:latin typeface="Yu Gothic"/>
                <a:ea typeface="Yu Gothic"/>
                <a:cs typeface="Yu Gothic"/>
              </a:rPr>
              <a:t>主観は測れていない／画面変更のたびに作り直し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4197096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4169664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研究目的　</a:t>
            </a:r>
            <a:r>
              <a:rPr sz="1500" b="0">
                <a:solidFill>
                  <a:srgbClr val="595A5C"/>
                </a:solidFill>
                <a:latin typeface="Yu Gothic"/>
                <a:ea typeface="Yu Gothic"/>
                <a:cs typeface="Yu Gothic"/>
              </a:rPr>
              <a:t>LLMを利用できる接続基盤と、対話構造の比較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4599432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572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システム構成と設計方針　</a:t>
            </a:r>
            <a:r>
              <a:rPr sz="1500" b="0">
                <a:solidFill>
                  <a:srgbClr val="595A5C"/>
                </a:solidFill>
                <a:latin typeface="Yu Gothic"/>
                <a:ea typeface="Yu Gothic"/>
                <a:cs typeface="Yu Gothic"/>
              </a:rPr>
              <a:t>LabVIEW側の実装を増やさない3つの工夫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5001768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974336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マルチエージェント化の段階　</a:t>
            </a:r>
            <a:r>
              <a:rPr sz="1500" b="0">
                <a:solidFill>
                  <a:srgbClr val="595A5C"/>
                </a:solidFill>
                <a:latin typeface="Yu Gothic"/>
                <a:ea typeface="Yu Gothic"/>
                <a:cs typeface="Yu Gothic"/>
              </a:rPr>
              <a:t>段階A / B / C と現在地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5404104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37667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動作結果　</a:t>
            </a:r>
            <a:r>
              <a:rPr sz="1500" b="0">
                <a:solidFill>
                  <a:srgbClr val="595A5C"/>
                </a:solidFill>
                <a:latin typeface="Yu Gothic"/>
                <a:ea typeface="Yu Gothic"/>
                <a:cs typeface="Yu Gothic"/>
              </a:rPr>
              <a:t>1回の送信で3体のAIが順番に発言する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806440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77900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検証計画　</a:t>
            </a:r>
            <a:r>
              <a:rPr sz="1500" b="0">
                <a:solidFill>
                  <a:srgbClr val="595A5C"/>
                </a:solidFill>
                <a:latin typeface="Yu Gothic"/>
                <a:ea typeface="Yu Gothic"/>
                <a:cs typeface="Yu Gothic"/>
              </a:rPr>
              <a:t>条件A〜Dを比較し、適した対話構造を明らかにする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6208776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6181344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今後の方針と本研究の位置づけ　</a:t>
            </a:r>
            <a:r>
              <a:rPr sz="1500" b="0">
                <a:solidFill>
                  <a:srgbClr val="595A5C"/>
                </a:solidFill>
                <a:latin typeface="Yu Gothic"/>
                <a:ea typeface="Yu Gothic"/>
                <a:cs typeface="Yu Gothic"/>
              </a:rPr>
              <a:t>既存研究とLLMを繋ぐゲートウェイ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研究背景と問題点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595A5C"/>
                </a:solidFill>
                <a:latin typeface="Yu Gothic"/>
                <a:ea typeface="Yu Gothic"/>
                <a:cs typeface="Yu Gothic"/>
              </a:rPr>
              <a:t>2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95A5C"/>
                </a:solidFill>
                <a:latin typeface="Yu Gothic"/>
                <a:ea typeface="Yu Gothic"/>
                <a:cs typeface="Yu Gothic"/>
              </a:rPr>
              <a:t>リハビリテーション評価は療法士の目視採点が主流で、対象者の増加により負担も増している。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394960" cy="1737360"/>
          </a:xfrm>
          <a:prstGeom prst="roundRect">
            <a:avLst/>
          </a:prstGeom>
          <a:solidFill>
            <a:srgbClr val="EFF3F7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客観データ（測れている）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センサーで数値として取得できる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指の屈曲角 ・ 運動回数 ・ 脈波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212080" cy="1737360"/>
          </a:xfrm>
          <a:prstGeom prst="roundRect">
            <a:avLst/>
          </a:prstGeom>
          <a:solidFill>
            <a:srgbClr val="EFF3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C0392B"/>
                </a:solidFill>
                <a:latin typeface="Yu Gothic"/>
                <a:ea typeface="Yu Gothic"/>
                <a:cs typeface="Yu Gothic"/>
              </a:rPr>
              <a:t>主観（測れていない）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「動きやすくなった実感はあるか」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「続けたいと思えるか」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37560"/>
            <a:ext cx="10881360" cy="6858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両方が揃って、はじめて評価になる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51960"/>
            <a:ext cx="5394960" cy="1645920"/>
          </a:xfrm>
          <a:prstGeom prst="roundRect">
            <a:avLst/>
          </a:prstGeom>
          <a:solidFill>
            <a:srgbClr val="EFF3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C0392B"/>
                </a:solidFill>
                <a:latin typeface="Yu Gothic"/>
                <a:ea typeface="Yu Gothic"/>
                <a:cs typeface="Yu Gothic"/>
              </a:rPr>
              <a:t>問題点 ①　主観を引き出す仕組みがない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・質問紙は形式が固定されており、その場の話に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　応じた掘り下げができない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・人が聞き取ると、聞き手の関心で内容が偏る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251960"/>
            <a:ext cx="5212080" cy="1645920"/>
          </a:xfrm>
          <a:prstGeom prst="roundRect">
            <a:avLst/>
          </a:prstGeom>
          <a:solidFill>
            <a:srgbClr val="EFF3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C0392B"/>
                </a:solidFill>
                <a:latin typeface="Yu Gothic"/>
                <a:ea typeface="Yu Gothic"/>
                <a:cs typeface="Yu Gothic"/>
              </a:rPr>
              <a:t>問題点 ②　画面変更のたびに作り直し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・計測画面はLabVIEWで作られており、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　評価内容が変わるたびに画面も変わる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・別にWeb画面を作ると二重の修正が必要になる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→ 偏りなく主観を引き出せて、かつ画面の変更に強い仕組みが要る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研究目的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595A5C"/>
                </a:solidFill>
                <a:latin typeface="Yu Gothic"/>
                <a:ea typeface="Yu Gothic"/>
                <a:cs typeface="Yu Gothic"/>
              </a:rPr>
              <a:t>3 /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10058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本研究：LabVIEWから大規模言語モデル（LLM）を利用できる接続基盤を構築する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最終目的：主観情報を多面的かつ効率的に収集できるLLM対話構造を明らかにする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29000"/>
            <a:ext cx="3383280" cy="2011680"/>
          </a:xfrm>
          <a:prstGeom prst="roundRect">
            <a:avLst/>
          </a:prstGeom>
          <a:solidFill>
            <a:srgbClr val="EFF3F7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① 画面変更に強い構成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LabVIEWをクライアントとし、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画面の変更をLabVIEW側だけで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完結できるようにする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429000"/>
            <a:ext cx="3383280" cy="2011680"/>
          </a:xfrm>
          <a:prstGeom prst="roundRect">
            <a:avLst/>
          </a:prstGeom>
          <a:solidFill>
            <a:srgbClr val="EFF3F7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② 対話構造を試せる基盤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複数のAIが順番に発言する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会話をサーバー側で制御し、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構成を差し替えられるようにする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429000"/>
            <a:ext cx="3383280" cy="2011680"/>
          </a:xfrm>
          <a:prstGeom prst="roundRect">
            <a:avLst/>
          </a:prstGeom>
          <a:solidFill>
            <a:srgbClr val="EFF3F7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③ 引き継げる環境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研究室の他のPCでも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同じように動く構成にする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95A5C"/>
                </a:solidFill>
                <a:latin typeface="Yu Gothic"/>
                <a:ea typeface="Yu Gothic"/>
                <a:cs typeface="Yu Gothic"/>
              </a:rPr>
              <a:t>AIを何体どう並べるのが良いかは自明ではないため、構成を比較して見極める必要がある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システム構成と設計方針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595A5C"/>
                </a:solidFill>
                <a:latin typeface="Yu Gothic"/>
                <a:ea typeface="Yu Gothic"/>
                <a:cs typeface="Yu Gothic"/>
              </a:rPr>
              <a:t>4 / 8</a:t>
            </a:r>
          </a:p>
        </p:txBody>
      </p:sp>
      <p:pic>
        <p:nvPicPr>
          <p:cNvPr id="4" name="Picture 3" descr="fig_a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81261"/>
            <a:ext cx="11247120" cy="1540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695211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95A5C"/>
                </a:solidFill>
                <a:latin typeface="Yu Gothic"/>
                <a:ea typeface="Yu Gothic"/>
                <a:cs typeface="Yu Gothic"/>
              </a:rPr>
              <a:t>現在のシステム構成（As-Is）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LabVIEW側の実装を増やさないための3つの工夫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383280"/>
          <a:ext cx="10881359" cy="2660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8080"/>
                <a:gridCol w="4030133"/>
                <a:gridCol w="4433146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工夫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LabVIEW側での効果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① 平坦なJSON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入れ子構造をやめ、フラットな形にする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クラスタを1つ作るだけで送受信できる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② 常にHTTP 200</a:t>
                      </a:r>
                    </a:p>
                  </a:txBody>
                  <a:tcPr marL="91440" marR="91440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成否は本文の ok フラグで表す</a:t>
                      </a:r>
                    </a:p>
                  </a:txBody>
                  <a:tcPr marL="91440" marR="91440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ステータス分岐が不要。Case Structure 1つで済む</a:t>
                      </a:r>
                    </a:p>
                  </a:txBody>
                  <a:tcPr marL="91440" marR="91440" anchor="ctr">
                    <a:solidFill>
                      <a:srgbClr val="EFF3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③ 会話を1本の文字列でも返す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発言の配列に加え、連結済みの文字列も返す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配列を解析せずに会話全体を表示できる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→ 複雑さをサーバー側に寄せることで、画面の変更にLabVIEW側だけで追従できる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マルチエージェント化の段階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595A5C"/>
                </a:solidFill>
                <a:latin typeface="Yu Gothic"/>
                <a:ea typeface="Yu Gothic"/>
                <a:cs typeface="Yu Gothic"/>
              </a:rPr>
              <a:t>5 / 8</a:t>
            </a:r>
          </a:p>
        </p:txBody>
      </p:sp>
      <p:pic>
        <p:nvPicPr>
          <p:cNvPr id="4" name="Picture 3" descr="fig_t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3686"/>
            <a:ext cx="5943600" cy="48535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20345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95A5C"/>
                </a:solidFill>
                <a:latin typeface="Yu Gothic"/>
                <a:ea typeface="Yu Gothic"/>
                <a:cs typeface="Yu Gothic"/>
              </a:rPr>
              <a:t>将来構成（To-Be）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0" y="1280160"/>
          <a:ext cx="466343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171"/>
                <a:gridCol w="2775857"/>
                <a:gridCol w="1332411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段階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状態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LabVIEW主導でAIを1体ずつ呼ぶ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実現可能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0392B"/>
                          </a:solidFill>
                          <a:latin typeface="Yu Gothic"/>
                          <a:ea typeface="Yu Gothic"/>
                          <a:cs typeface="Yu Gothic"/>
                        </a:rPr>
                        <a:t>B</a:t>
                      </a:r>
                    </a:p>
                  </a:txBody>
                  <a:tcPr marL="91440" marR="9144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0392B"/>
                          </a:solidFill>
                          <a:latin typeface="Yu Gothic"/>
                          <a:ea typeface="Yu Gothic"/>
                          <a:cs typeface="Yu Gothic"/>
                        </a:rPr>
                        <a:t>サーバーが発言順を制御しまとめて返す</a:t>
                      </a:r>
                    </a:p>
                  </a:txBody>
                  <a:tcPr marL="91440" marR="9144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0392B"/>
                          </a:solidFill>
                          <a:latin typeface="Yu Gothic"/>
                          <a:ea typeface="Yu Gothic"/>
                          <a:cs typeface="Yu Gothic"/>
                        </a:rPr>
                        <a:t>実装完了 ←現在地</a:t>
                      </a:r>
                    </a:p>
                  </a:txBody>
                  <a:tcPr marL="91440" marR="91440" anchor="ctr">
                    <a:solidFill>
                      <a:srgbClr val="FDECE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司会AIが発言順を動的に決める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次の課題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0" y="3931920"/>
            <a:ext cx="4663440" cy="1645920"/>
          </a:xfrm>
          <a:prstGeom prst="roundRect">
            <a:avLst/>
          </a:prstGeom>
          <a:solidFill>
            <a:srgbClr val="EFF3F7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段階Cへの備え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発言順を「決める処理」と「実行する処理」を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分けて実装した。司会AIを入れるときは、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決める部分だけを差し替えれば済む。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動作結果　LabVIEWから1回送るだけで3体が会話する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595A5C"/>
                </a:solidFill>
                <a:latin typeface="Yu Gothic"/>
                <a:ea typeface="Yu Gothic"/>
                <a:cs typeface="Yu Gothic"/>
              </a:rPr>
              <a:t>6 / 8</a:t>
            </a:r>
          </a:p>
        </p:txBody>
      </p:sp>
      <p:pic>
        <p:nvPicPr>
          <p:cNvPr id="4" name="Picture 3" descr="demo_multi_st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64" y="1051560"/>
            <a:ext cx="4943192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690872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95A5C"/>
                </a:solidFill>
                <a:latin typeface="Yu Gothic"/>
                <a:ea typeface="Yu Gothic"/>
                <a:cs typeface="Yu Gothic"/>
              </a:rPr>
              <a:t>LabVIEWの画面に返ってきた3体の返答（動画から抜粋）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846320"/>
            <a:ext cx="6035040" cy="1371600"/>
          </a:xfrm>
          <a:prstGeom prst="roundRect">
            <a:avLst/>
          </a:prstGeom>
          <a:solidFill>
            <a:srgbClr val="EFF3F7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入力（1文だけ）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「リハビリのトレーニングを終えました。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　指が少し動きやすくなった気がします。」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1188720"/>
          <a:ext cx="4663438" cy="3538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227"/>
                <a:gridCol w="739325"/>
                <a:gridCol w="2957303"/>
                <a:gridCol w="625583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順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AI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発言の要旨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所要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Alpha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改善が見られるのは励みになる。特に効果を感じたトレーニングはあったかと聞き返す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2.0秒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392B"/>
                          </a:solidFill>
                          <a:latin typeface="Yu Gothic"/>
                          <a:ea typeface="Yu Gothic"/>
                          <a:cs typeface="Yu Gothic"/>
                        </a:rPr>
                        <a:t>2</a:t>
                      </a:r>
                    </a:p>
                  </a:txBody>
                  <a:tcPr marL="91440" marR="9144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392B"/>
                          </a:solidFill>
                          <a:latin typeface="Yu Gothic"/>
                          <a:ea typeface="Yu Gothic"/>
                          <a:cs typeface="Yu Gothic"/>
                        </a:rPr>
                        <a:t>Beta</a:t>
                      </a:r>
                    </a:p>
                  </a:txBody>
                  <a:tcPr marL="91440" marR="9144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392B"/>
                          </a:solidFill>
                          <a:latin typeface="Yu Gothic"/>
                          <a:ea typeface="Yu Gothic"/>
                          <a:cs typeface="Yu Gothic"/>
                        </a:rPr>
                        <a:t>継続的な取り組みと適切なフィードバックが必要。共有し合える環境を整えることも大切</a:t>
                      </a:r>
                    </a:p>
                  </a:txBody>
                  <a:tcPr marL="91440" marR="9144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392B"/>
                          </a:solidFill>
                          <a:latin typeface="Yu Gothic"/>
                          <a:ea typeface="Yu Gothic"/>
                          <a:cs typeface="Yu Gothic"/>
                        </a:rPr>
                        <a:t>2.9秒</a:t>
                      </a:r>
                    </a:p>
                  </a:txBody>
                  <a:tcPr marL="91440" marR="91440" anchor="ctr">
                    <a:solidFill>
                      <a:srgbClr val="FDECEA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3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Gamma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具体的な目標を設定すると効果を引き出せる。日常生活で指を使う作業への挑戦を提案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1.1秒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0" y="4572000"/>
            <a:ext cx="4663440" cy="1645920"/>
          </a:xfrm>
          <a:prstGeom prst="roundRect">
            <a:avLst/>
          </a:prstGeom>
          <a:solidFill>
            <a:srgbClr val="EFF3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C0392B"/>
                </a:solidFill>
                <a:latin typeface="Yu Gothic"/>
                <a:ea typeface="Yu Gothic"/>
                <a:cs typeface="Yu Gothic"/>
              </a:rPr>
              <a:t>注目点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1体目は問い返し、2体目は条件を補い、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3体目は次の行動へ広げている。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前の発言を読んだうえで話すため重複しない。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※ この3体構成は比較条件の一つ（条件B）。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検証計画 ― 主観情報の収集に適した対話構造の比較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595A5C"/>
                </a:solidFill>
                <a:latin typeface="Yu Gothic"/>
                <a:ea typeface="Yu Gothic"/>
                <a:cs typeface="Yu Gothic"/>
              </a:rPr>
              <a:t>7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95A5C"/>
                </a:solidFill>
                <a:latin typeface="Yu Gothic"/>
                <a:ea typeface="Yu Gothic"/>
                <a:cs typeface="Yu Gothic"/>
              </a:rPr>
              <a:t>3体が最適という主張ではない。現在の構成は比較条件の一つであり、A〜Dを比較して適した構造を明らかにする。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881358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149"/>
                <a:gridCol w="2950877"/>
                <a:gridCol w="3319736"/>
                <a:gridCol w="3688596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条件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LLM構成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狙い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本研究での状態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LLM 1体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基準条件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実装済み（単体AI版）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C0392B"/>
                          </a:solidFill>
                          <a:latin typeface="Yu Gothic"/>
                          <a:ea typeface="Yu Gothic"/>
                          <a:cs typeface="Yu Gothic"/>
                        </a:rPr>
                        <a:t>B</a:t>
                      </a:r>
                    </a:p>
                  </a:txBody>
                  <a:tcPr marL="91440" marR="9144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C0392B"/>
                          </a:solidFill>
                          <a:latin typeface="Yu Gothic"/>
                          <a:ea typeface="Yu Gothic"/>
                          <a:cs typeface="Yu Gothic"/>
                        </a:rPr>
                        <a:t>1体＋複数ペルソナ</a:t>
                      </a:r>
                    </a:p>
                  </a:txBody>
                  <a:tcPr marL="91440" marR="9144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C0392B"/>
                          </a:solidFill>
                          <a:latin typeface="Yu Gothic"/>
                          <a:ea typeface="Yu Gothic"/>
                          <a:cs typeface="Yu Gothic"/>
                        </a:rPr>
                        <a:t>視点を変える効果</a:t>
                      </a:r>
                    </a:p>
                  </a:txBody>
                  <a:tcPr marL="91440" marR="9144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C0392B"/>
                          </a:solidFill>
                          <a:latin typeface="Yu Gothic"/>
                          <a:ea typeface="Yu Gothic"/>
                          <a:cs typeface="Yu Gothic"/>
                        </a:rPr>
                        <a:t>実装済み ← 今回の動作結果</a:t>
                      </a:r>
                    </a:p>
                  </a:txBody>
                  <a:tcPr marL="91440" marR="91440" anchor="ctr">
                    <a:solidFill>
                      <a:srgbClr val="FDECE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複数LLM＋固定順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独立した役割を持つ効果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設定変更で対応可能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D</a:t>
                      </a:r>
                    </a:p>
                  </a:txBody>
                  <a:tcPr marL="91440" marR="91440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複数LLM＋司会AI</a:t>
                      </a:r>
                    </a:p>
                  </a:txBody>
                  <a:tcPr marL="91440" marR="91440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対話を動的に制御する効果</a:t>
                      </a:r>
                    </a:p>
                  </a:txBody>
                  <a:tcPr marL="91440" marR="91440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  <a:cs typeface="Yu Gothic"/>
                        </a:rPr>
                        <a:t>次段階で実装</a:t>
                      </a:r>
                    </a:p>
                  </a:txBody>
                  <a:tcPr marL="91440" marR="9144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572000"/>
            <a:ext cx="5303520" cy="1463040"/>
          </a:xfrm>
          <a:prstGeom prst="roundRect">
            <a:avLst/>
          </a:prstGeom>
          <a:solidFill>
            <a:srgbClr val="EFF3F7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応答時間（AI 3体の実測）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約 6.0 〜 6.3 秒（2.0 / 2.9 / 1.1 秒）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うち自作サーバーの処理は 7 ミリ秒。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遅延のほぼ全てがLLM側の応答待ち。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572000"/>
            <a:ext cx="5303520" cy="1463040"/>
          </a:xfrm>
          <a:prstGeom prst="roundRect">
            <a:avLst/>
          </a:prstGeom>
          <a:solidFill>
            <a:srgbClr val="EFF3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C0392B"/>
                </a:solidFill>
                <a:latin typeface="Yu Gothic"/>
                <a:ea typeface="Yu Gothic"/>
                <a:cs typeface="Yu Gothic"/>
              </a:rPr>
              <a:t>比較で見たいこと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・重複のない多面的な意見が得られるか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・応答時間と発言数のつり合い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・患者の負担にならない対話の長さ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今後の方針と本研究の位置づけ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595A5C"/>
                </a:solidFill>
                <a:latin typeface="Yu Gothic"/>
                <a:ea typeface="Yu Gothic"/>
                <a:cs typeface="Yu Gothic"/>
              </a:rPr>
              <a:t>8 / 8</a:t>
            </a:r>
          </a:p>
        </p:txBody>
      </p:sp>
      <p:sp>
        <p:nvSpPr>
          <p:cNvPr id="4" name="Right Arrow 3"/>
          <p:cNvSpPr/>
          <p:nvPr/>
        </p:nvSpPr>
        <p:spPr>
          <a:xfrm>
            <a:off x="548640" y="2496312"/>
            <a:ext cx="11064240" cy="292608"/>
          </a:xfrm>
          <a:prstGeom prst="rightArrow">
            <a:avLst/>
          </a:prstGeom>
          <a:solidFill>
            <a:srgbClr val="C8D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2628900" cy="1325880"/>
          </a:xfrm>
          <a:prstGeom prst="roundRect">
            <a:avLst/>
          </a:prstGeom>
          <a:solidFill>
            <a:srgbClr val="0E7C86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現在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LabVIEWとLLMのJSON接続基盤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サーバー側の会話制御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（ここまで実装済み）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0420" y="1051560"/>
            <a:ext cx="2628900" cy="1325880"/>
          </a:xfrm>
          <a:prstGeom prst="roundRect">
            <a:avLst/>
          </a:prstGeom>
          <a:solidFill>
            <a:srgbClr val="EFF3F7"/>
          </a:solidFill>
          <a:ln w="12700">
            <a:solidFill>
              <a:srgbClr val="595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次段階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司会AIの導入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ペルソナの動的な切り替え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（本研究で取り組む範囲）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051560"/>
            <a:ext cx="2628900" cy="1325880"/>
          </a:xfrm>
          <a:prstGeom prst="roundRect">
            <a:avLst/>
          </a:prstGeom>
          <a:solidFill>
            <a:srgbClr val="EFF3F7"/>
          </a:solidFill>
          <a:ln w="12700">
            <a:solidFill>
              <a:srgbClr val="595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中期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研究室の既存研究とLLMを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繋ぐゲートウェイ化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センサーデータとの統合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83980" y="1051560"/>
            <a:ext cx="2628900" cy="1325880"/>
          </a:xfrm>
          <a:prstGeom prst="roundRect">
            <a:avLst/>
          </a:prstGeom>
          <a:solidFill>
            <a:srgbClr val="EFF3F7"/>
          </a:solidFill>
          <a:ln w="12700">
            <a:solidFill>
              <a:srgbClr val="595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長期［ビジョン］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客観データと主観データを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組み合わせた評価空間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4680"/>
            <a:ext cx="3200400" cy="1920240"/>
          </a:xfrm>
          <a:prstGeom prst="roundRect">
            <a:avLst/>
          </a:prstGeom>
          <a:solidFill>
            <a:srgbClr val="EFF3F7"/>
          </a:solidFill>
          <a:ln w="19050">
            <a:solidFill>
              <a:srgbClr val="595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595A5C"/>
                </a:solidFill>
                <a:latin typeface="Yu Gothic"/>
                <a:ea typeface="Yu Gothic"/>
                <a:cs typeface="Yu Gothic"/>
              </a:rPr>
              <a:t>松田研の既存研究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・リハビリ用デバイス（力覚・屈曲データ）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・ハードウェア制御（PWM / AD・DA変換）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・電動車椅子・計測系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いずれもLabVIEWが窓口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154680"/>
            <a:ext cx="3291840" cy="1920240"/>
          </a:xfrm>
          <a:prstGeom prst="roundRect">
            <a:avLst/>
          </a:prstGeom>
          <a:solidFill>
            <a:srgbClr val="EFF3F7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Yu Gothic"/>
                <a:ea typeface="Yu Gothic"/>
                <a:cs typeface="Yu Gothic"/>
              </a:rPr>
              <a:t>本研究：接続基盤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・LabVIEWから1回投げるだけ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・サーバーが会話を制御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・LabVIEW側に追加実装は不要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計測系を作り変えずにLLMを利用できる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3154680"/>
            <a:ext cx="3108960" cy="1920240"/>
          </a:xfrm>
          <a:prstGeom prst="roundRect">
            <a:avLst/>
          </a:prstGeom>
          <a:solidFill>
            <a:srgbClr val="EFF3F7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LLM / マルチエージェント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・複数AIによる対話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・主観情報の引き出し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・司会AIによる発言順の制御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（外部API / 将来は院内）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69080" y="3886200"/>
            <a:ext cx="365760" cy="411480"/>
          </a:xfrm>
          <a:prstGeom prst="rightArrow">
            <a:avLst/>
          </a:prstGeom>
          <a:solidFill>
            <a:srgbClr val="C8D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8092440" y="3886200"/>
            <a:ext cx="365760" cy="411480"/>
          </a:xfrm>
          <a:prstGeom prst="rightArrow">
            <a:avLst/>
          </a:prstGeom>
          <a:solidFill>
            <a:srgbClr val="C8D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5257800"/>
            <a:ext cx="11064240" cy="6858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研究室の様々な研究にLLMを挿せる土台を作ったことに価値がある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C0392B"/>
                </a:solidFill>
                <a:latin typeface="Yu Gothic"/>
                <a:ea typeface="Yu Gothic"/>
                <a:cs typeface="Yu Gothic"/>
              </a:rPr>
              <a:t>※ 本研究の完了範囲は接続基盤と司会AIの導入まで。センサーデータとの統合以降は発展の方向性として示している。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